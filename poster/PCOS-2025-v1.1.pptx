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8"/>
  </p:sldMasterIdLst>
  <p:notesMasterIdLst>
    <p:notesMasterId r:id="rId10"/>
  </p:notesMasterIdLst>
  <p:handoutMasterIdLst>
    <p:handoutMasterId r:id="rId11"/>
  </p:handoutMasterIdLst>
  <p:sldIdLst>
    <p:sldId id="257" r:id="rId9"/>
  </p:sldIdLst>
  <p:sldSz cx="21945600" cy="16002000"/>
  <p:notesSz cx="10134600" cy="15621000"/>
  <p:defaultTextStyle>
    <a:defPPr>
      <a:defRPr lang="en-US"/>
    </a:defPPr>
    <a:lvl1pPr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1pPr>
    <a:lvl2pPr marL="4572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2pPr>
    <a:lvl3pPr marL="9144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3pPr>
    <a:lvl4pPr marL="13716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4pPr>
    <a:lvl5pPr marL="1828800" algn="ctr" rtl="0" fontAlgn="base">
      <a:spcBef>
        <a:spcPct val="20000"/>
      </a:spcBef>
      <a:spcAft>
        <a:spcPct val="0"/>
      </a:spcAft>
      <a:buClr>
        <a:schemeClr val="folHlink"/>
      </a:buClr>
      <a:buSzPct val="120000"/>
      <a:defRPr sz="2200" kern="1200">
        <a:solidFill>
          <a:schemeClr val="tx2"/>
        </a:solidFill>
        <a:latin typeface="Arial" charset="0"/>
        <a:ea typeface="+mn-ea"/>
        <a:cs typeface="Times New Roman" pitchFamily="18" charset="0"/>
      </a:defRPr>
    </a:lvl5pPr>
    <a:lvl6pPr marL="2286000" algn="l" defTabSz="914400" rtl="0" eaLnBrk="1" latinLnBrk="0" hangingPunct="1">
      <a:defRPr sz="2200" kern="1200">
        <a:solidFill>
          <a:schemeClr val="tx2"/>
        </a:solidFill>
        <a:latin typeface="Arial" charset="0"/>
        <a:ea typeface="+mn-ea"/>
        <a:cs typeface="Times New Roman" pitchFamily="18" charset="0"/>
      </a:defRPr>
    </a:lvl6pPr>
    <a:lvl7pPr marL="2743200" algn="l" defTabSz="914400" rtl="0" eaLnBrk="1" latinLnBrk="0" hangingPunct="1">
      <a:defRPr sz="2200" kern="1200">
        <a:solidFill>
          <a:schemeClr val="tx2"/>
        </a:solidFill>
        <a:latin typeface="Arial" charset="0"/>
        <a:ea typeface="+mn-ea"/>
        <a:cs typeface="Times New Roman" pitchFamily="18" charset="0"/>
      </a:defRPr>
    </a:lvl7pPr>
    <a:lvl8pPr marL="3200400" algn="l" defTabSz="914400" rtl="0" eaLnBrk="1" latinLnBrk="0" hangingPunct="1">
      <a:defRPr sz="2200" kern="1200">
        <a:solidFill>
          <a:schemeClr val="tx2"/>
        </a:solidFill>
        <a:latin typeface="Arial" charset="0"/>
        <a:ea typeface="+mn-ea"/>
        <a:cs typeface="Times New Roman" pitchFamily="18" charset="0"/>
      </a:defRPr>
    </a:lvl8pPr>
    <a:lvl9pPr marL="3657600" algn="l" defTabSz="914400" rtl="0" eaLnBrk="1" latinLnBrk="0" hangingPunct="1">
      <a:defRPr sz="2200" kern="1200">
        <a:solidFill>
          <a:schemeClr val="tx2"/>
        </a:solidFill>
        <a:latin typeface="Arial" charset="0"/>
        <a:ea typeface="+mn-ea"/>
        <a:cs typeface="Times New Roman" pitchFamily="18" charset="0"/>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4920">
          <p15:clr>
            <a:srgbClr val="A4A3A4"/>
          </p15:clr>
        </p15:guide>
        <p15:guide id="2" pos="319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57B8"/>
    <a:srgbClr val="000000"/>
    <a:srgbClr val="FFFFFF"/>
    <a:srgbClr val="2158A1"/>
    <a:srgbClr val="1F2D60"/>
    <a:srgbClr val="2762AC"/>
    <a:srgbClr val="1C2966"/>
    <a:srgbClr val="3547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9E82E-5360-44F7-931E-0B016DB9D3E5}" v="133" dt="2024-05-06T23:56:58.0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692"/>
    <p:restoredTop sz="94730"/>
  </p:normalViewPr>
  <p:slideViewPr>
    <p:cSldViewPr snapToGrid="0">
      <p:cViewPr>
        <p:scale>
          <a:sx n="100" d="100"/>
          <a:sy n="100" d="100"/>
        </p:scale>
        <p:origin x="56" y="40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4920"/>
        <p:guide pos="319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customXml" Target="../customXml/item7.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00670481432945"/>
          <c:y val="2.4575092766828486E-2"/>
          <c:w val="0.75997680744243756"/>
          <c:h val="0.6249416076869595"/>
        </c:manualLayout>
      </c:layout>
      <c:barChart>
        <c:barDir val="col"/>
        <c:grouping val="clustered"/>
        <c:varyColors val="0"/>
        <c:ser>
          <c:idx val="0"/>
          <c:order val="0"/>
          <c:tx>
            <c:strRef>
              <c:f>Sheet1!$B$1</c:f>
              <c:strCache>
                <c:ptCount val="1"/>
                <c:pt idx="0">
                  <c:v>Baseline</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Sheet1!$A$2:$A$4</c:f>
              <c:strCache>
                <c:ptCount val="3"/>
                <c:pt idx="0">
                  <c:v>Meantime to Diagnosis</c:v>
                </c:pt>
                <c:pt idx="1">
                  <c:v>Diagnostic Guideline Adherence</c:v>
                </c:pt>
                <c:pt idx="2">
                  <c:v>Management Guideline Adherence</c:v>
                </c:pt>
              </c:strCache>
            </c:strRef>
          </c:cat>
          <c:val>
            <c:numRef>
              <c:f>Sheet1!$B$2:$B$4</c:f>
              <c:numCache>
                <c:formatCode>General</c:formatCode>
                <c:ptCount val="3"/>
                <c:pt idx="0">
                  <c:v>28</c:v>
                </c:pt>
                <c:pt idx="1">
                  <c:v>65</c:v>
                </c:pt>
                <c:pt idx="2">
                  <c:v>55</c:v>
                </c:pt>
              </c:numCache>
            </c:numRef>
          </c:val>
          <c:extLst>
            <c:ext xmlns:c16="http://schemas.microsoft.com/office/drawing/2014/chart" uri="{C3380CC4-5D6E-409C-BE32-E72D297353CC}">
              <c16:uniqueId val="{00000000-4AB6-2348-B30B-7E5E2E36AB5D}"/>
            </c:ext>
          </c:extLst>
        </c:ser>
        <c:ser>
          <c:idx val="1"/>
          <c:order val="1"/>
          <c:tx>
            <c:strRef>
              <c:f>Sheet1!$C$1</c:f>
              <c:strCache>
                <c:ptCount val="1"/>
                <c:pt idx="0">
                  <c:v>Post-Intervention</c:v>
                </c:pt>
              </c:strCache>
            </c:strRef>
          </c:tx>
          <c:spPr>
            <a:solidFill>
              <a:srgbClr val="0157B8"/>
            </a:solidFill>
            <a:ln>
              <a:noFill/>
            </a:ln>
            <a:effectLst/>
          </c:spPr>
          <c:invertIfNegative val="0"/>
          <c:dLbls>
            <c:dLbl>
              <c:idx val="1"/>
              <c:layout>
                <c:manualLayout>
                  <c:x val="0"/>
                  <c:y val="4.59393918347973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4AB6-2348-B30B-7E5E2E36AB5D}"/>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Sheet1!$A$2:$A$4</c:f>
              <c:strCache>
                <c:ptCount val="3"/>
                <c:pt idx="0">
                  <c:v>Meantime to Diagnosis</c:v>
                </c:pt>
                <c:pt idx="1">
                  <c:v>Diagnostic Guideline Adherence</c:v>
                </c:pt>
                <c:pt idx="2">
                  <c:v>Management Guideline Adherence</c:v>
                </c:pt>
              </c:strCache>
            </c:strRef>
          </c:cat>
          <c:val>
            <c:numRef>
              <c:f>Sheet1!$C$2:$C$4</c:f>
              <c:numCache>
                <c:formatCode>General</c:formatCode>
                <c:ptCount val="3"/>
                <c:pt idx="0">
                  <c:v>12</c:v>
                </c:pt>
                <c:pt idx="1">
                  <c:v>90</c:v>
                </c:pt>
                <c:pt idx="2">
                  <c:v>85</c:v>
                </c:pt>
              </c:numCache>
            </c:numRef>
          </c:val>
          <c:extLst>
            <c:ext xmlns:c16="http://schemas.microsoft.com/office/drawing/2014/chart" uri="{C3380CC4-5D6E-409C-BE32-E72D297353CC}">
              <c16:uniqueId val="{00000001-4AB6-2348-B30B-7E5E2E36AB5D}"/>
            </c:ext>
          </c:extLst>
        </c:ser>
        <c:dLbls>
          <c:showLegendKey val="0"/>
          <c:showVal val="0"/>
          <c:showCatName val="0"/>
          <c:showSerName val="0"/>
          <c:showPercent val="0"/>
          <c:showBubbleSize val="0"/>
        </c:dLbls>
        <c:gapWidth val="100"/>
        <c:overlap val="-24"/>
        <c:axId val="609438767"/>
        <c:axId val="880739871"/>
      </c:barChart>
      <c:catAx>
        <c:axId val="60943876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mn-cs"/>
              </a:defRPr>
            </a:pPr>
            <a:endParaRPr lang="en-US"/>
          </a:p>
        </c:txPr>
        <c:crossAx val="880739871"/>
        <c:crosses val="autoZero"/>
        <c:auto val="1"/>
        <c:lblAlgn val="ctr"/>
        <c:lblOffset val="100"/>
        <c:noMultiLvlLbl val="0"/>
      </c:catAx>
      <c:valAx>
        <c:axId val="880739871"/>
        <c:scaling>
          <c:orientation val="minMax"/>
          <c:max val="100"/>
          <c:min val="0"/>
        </c:scaling>
        <c:delete val="0"/>
        <c:axPos val="l"/>
        <c:majorGridlines>
          <c:spPr>
            <a:ln w="9525" cap="rnd" cmpd="sng" algn="ctr">
              <a:noFill/>
              <a:prstDash val="dash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609438767"/>
        <c:crosses val="autoZero"/>
        <c:crossBetween val="between"/>
        <c:majorUnit val="20"/>
      </c:valAx>
      <c:spPr>
        <a:noFill/>
        <a:ln>
          <a:noFill/>
        </a:ln>
        <a:effectLst/>
      </c:spPr>
    </c:plotArea>
    <c:legend>
      <c:legendPos val="b"/>
      <c:layout>
        <c:manualLayout>
          <c:xMode val="edge"/>
          <c:yMode val="edge"/>
          <c:x val="0"/>
          <c:y val="0.90619519212592881"/>
          <c:w val="0.42527822220926803"/>
          <c:h val="6.9390573285957324E-2"/>
        </c:manualLayout>
      </c:layout>
      <c:overlay val="0"/>
      <c:spPr>
        <a:noFill/>
        <a:ln>
          <a:noFill/>
        </a:ln>
        <a:effectLst>
          <a:outerShdw blurRad="50800" dist="50800" dir="5400000" algn="ctr" rotWithShape="0">
            <a:schemeClr val="bg1">
              <a:lumMod val="85000"/>
            </a:schemeClr>
          </a:outerShdw>
        </a:effectLst>
      </c:spPr>
      <c:txPr>
        <a:bodyPr rot="0" spcFirstLastPara="1" vertOverflow="ellipsis" vert="horz" wrap="square" anchor="ctr" anchorCtr="1"/>
        <a:lstStyle/>
        <a:p>
          <a:pPr>
            <a:defRPr sz="1000" b="0" i="0" u="none" strike="noStrike" kern="1200" baseline="0">
              <a:solidFill>
                <a:schemeClr val="tx2"/>
              </a:solidFill>
              <a:latin typeface="Arial" panose="020B0604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0300670481432945"/>
          <c:y val="2.4575092766828486E-2"/>
          <c:w val="0.75997680744243756"/>
          <c:h val="0.61322880618520148"/>
        </c:manualLayout>
      </c:layout>
      <c:barChart>
        <c:barDir val="col"/>
        <c:grouping val="clustered"/>
        <c:varyColors val="0"/>
        <c:ser>
          <c:idx val="0"/>
          <c:order val="0"/>
          <c:tx>
            <c:strRef>
              <c:f>Sheet1!$B$1</c:f>
              <c:strCache>
                <c:ptCount val="1"/>
                <c:pt idx="0">
                  <c:v>Baseline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Sheet1!$A$2:$A$3</c:f>
              <c:strCache>
                <c:ptCount val="2"/>
                <c:pt idx="0">
                  <c:v>Clinician Cognitive Load</c:v>
                </c:pt>
                <c:pt idx="1">
                  <c:v>Recommendation Acceptance Rate</c:v>
                </c:pt>
              </c:strCache>
            </c:strRef>
          </c:cat>
          <c:val>
            <c:numRef>
              <c:f>Sheet1!$B$2:$B$3</c:f>
              <c:numCache>
                <c:formatCode>General</c:formatCode>
                <c:ptCount val="2"/>
                <c:pt idx="0">
                  <c:v>8</c:v>
                </c:pt>
                <c:pt idx="1">
                  <c:v>0</c:v>
                </c:pt>
              </c:numCache>
            </c:numRef>
          </c:val>
          <c:extLst>
            <c:ext xmlns:c16="http://schemas.microsoft.com/office/drawing/2014/chart" uri="{C3380CC4-5D6E-409C-BE32-E72D297353CC}">
              <c16:uniqueId val="{00000000-7904-C949-9BCF-5F4A7F0986BA}"/>
            </c:ext>
          </c:extLst>
        </c:ser>
        <c:ser>
          <c:idx val="1"/>
          <c:order val="1"/>
          <c:tx>
            <c:strRef>
              <c:f>Sheet1!$C$1</c:f>
              <c:strCache>
                <c:ptCount val="1"/>
                <c:pt idx="0">
                  <c:v>Post-Intervention</c:v>
                </c:pt>
              </c:strCache>
            </c:strRef>
          </c:tx>
          <c:spPr>
            <a:solidFill>
              <a:srgbClr val="0157B8"/>
            </a:solidFill>
            <a:ln>
              <a:noFill/>
            </a:ln>
            <a:effectLst/>
          </c:spPr>
          <c:invertIfNegative val="0"/>
          <c:dLbls>
            <c:dLbl>
              <c:idx val="1"/>
              <c:layout>
                <c:manualLayout>
                  <c:x val="0"/>
                  <c:y val="4.5939391834797392E-3"/>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7904-C949-9BCF-5F4A7F0986BA}"/>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2"/>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2">
                          <a:lumMod val="35000"/>
                          <a:lumOff val="65000"/>
                        </a:schemeClr>
                      </a:solidFill>
                    </a:ln>
                    <a:effectLst/>
                  </c:spPr>
                </c15:leaderLines>
              </c:ext>
            </c:extLst>
          </c:dLbls>
          <c:cat>
            <c:strRef>
              <c:f>Sheet1!$A$2:$A$3</c:f>
              <c:strCache>
                <c:ptCount val="2"/>
                <c:pt idx="0">
                  <c:v>Clinician Cognitive Load</c:v>
                </c:pt>
                <c:pt idx="1">
                  <c:v>Recommendation Acceptance Rate</c:v>
                </c:pt>
              </c:strCache>
            </c:strRef>
          </c:cat>
          <c:val>
            <c:numRef>
              <c:f>Sheet1!$C$2:$C$3</c:f>
              <c:numCache>
                <c:formatCode>General</c:formatCode>
                <c:ptCount val="2"/>
                <c:pt idx="0">
                  <c:v>5</c:v>
                </c:pt>
                <c:pt idx="1">
                  <c:v>80</c:v>
                </c:pt>
              </c:numCache>
            </c:numRef>
          </c:val>
          <c:extLst>
            <c:ext xmlns:c16="http://schemas.microsoft.com/office/drawing/2014/chart" uri="{C3380CC4-5D6E-409C-BE32-E72D297353CC}">
              <c16:uniqueId val="{00000002-7904-C949-9BCF-5F4A7F0986BA}"/>
            </c:ext>
          </c:extLst>
        </c:ser>
        <c:dLbls>
          <c:showLegendKey val="0"/>
          <c:showVal val="0"/>
          <c:showCatName val="0"/>
          <c:showSerName val="0"/>
          <c:showPercent val="0"/>
          <c:showBubbleSize val="0"/>
        </c:dLbls>
        <c:gapWidth val="100"/>
        <c:overlap val="-24"/>
        <c:axId val="609438767"/>
        <c:axId val="880739871"/>
      </c:barChart>
      <c:catAx>
        <c:axId val="609438767"/>
        <c:scaling>
          <c:orientation val="minMax"/>
        </c:scaling>
        <c:delete val="0"/>
        <c:axPos val="b"/>
        <c:numFmt formatCode="General" sourceLinked="1"/>
        <c:majorTickMark val="none"/>
        <c:minorTickMark val="none"/>
        <c:tickLblPos val="nextTo"/>
        <c:spPr>
          <a:noFill/>
          <a:ln w="9525" cap="flat" cmpd="sng" algn="ctr">
            <a:solidFill>
              <a:schemeClr val="tx2">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solidFill>
                <a:latin typeface="Arial" panose="020B0604020202020204" pitchFamily="34" charset="0"/>
                <a:ea typeface="+mn-ea"/>
                <a:cs typeface="+mn-cs"/>
              </a:defRPr>
            </a:pPr>
            <a:endParaRPr lang="en-US"/>
          </a:p>
        </c:txPr>
        <c:crossAx val="880739871"/>
        <c:crosses val="autoZero"/>
        <c:auto val="1"/>
        <c:lblAlgn val="ctr"/>
        <c:lblOffset val="100"/>
        <c:noMultiLvlLbl val="0"/>
      </c:catAx>
      <c:valAx>
        <c:axId val="880739871"/>
        <c:scaling>
          <c:orientation val="minMax"/>
          <c:max val="100"/>
          <c:min val="0"/>
        </c:scaling>
        <c:delete val="0"/>
        <c:axPos val="l"/>
        <c:majorGridlines>
          <c:spPr>
            <a:ln w="9525" cap="rnd" cmpd="sng" algn="ctr">
              <a:noFill/>
              <a:prstDash val="dashDot"/>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2"/>
                </a:solidFill>
                <a:latin typeface="+mn-lt"/>
                <a:ea typeface="+mn-ea"/>
                <a:cs typeface="+mn-cs"/>
              </a:defRPr>
            </a:pPr>
            <a:endParaRPr lang="en-US"/>
          </a:p>
        </c:txPr>
        <c:crossAx val="609438767"/>
        <c:crosses val="autoZero"/>
        <c:crossBetween val="between"/>
        <c:majorUnit val="20"/>
      </c:valAx>
      <c:spPr>
        <a:noFill/>
        <a:ln>
          <a:noFill/>
        </a:ln>
        <a:effectLst/>
      </c:spPr>
    </c:plotArea>
    <c:legend>
      <c:legendPos val="b"/>
      <c:layout>
        <c:manualLayout>
          <c:xMode val="edge"/>
          <c:yMode val="edge"/>
          <c:x val="2.6440348388023561E-3"/>
          <c:y val="0.89572636870449807"/>
          <c:w val="0.42527822220926803"/>
          <c:h val="6.9390573285957324E-2"/>
        </c:manualLayout>
      </c:layout>
      <c:overlay val="0"/>
      <c:spPr>
        <a:noFill/>
        <a:ln>
          <a:noFill/>
        </a:ln>
        <a:effectLst>
          <a:outerShdw blurRad="50800" dist="50800" dir="5400000" algn="ctr" rotWithShape="0">
            <a:schemeClr val="bg1">
              <a:lumMod val="85000"/>
            </a:schemeClr>
          </a:outerShdw>
        </a:effectLst>
      </c:spPr>
      <c:txPr>
        <a:bodyPr rot="0" spcFirstLastPara="1" vertOverflow="ellipsis" vert="horz" wrap="square" anchor="ctr" anchorCtr="1"/>
        <a:lstStyle/>
        <a:p>
          <a:pPr>
            <a:defRPr sz="1000" b="0" i="0" u="none" strike="noStrike" kern="1200" baseline="0">
              <a:solidFill>
                <a:schemeClr val="tx2"/>
              </a:solidFill>
              <a:latin typeface="Arial" panose="020B0604020202020204" pitchFamily="34"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charts/style2.xml><?xml version="1.0" encoding="utf-8"?>
<cs:chartStyle xmlns:cs="http://schemas.microsoft.com/office/drawing/2012/chartStyle" xmlns:a="http://schemas.openxmlformats.org/drawingml/2006/main" id="207">
  <cs:axisTitle>
    <cs:lnRef idx="0"/>
    <cs:fillRef idx="0"/>
    <cs:effectRef idx="0"/>
    <cs:fontRef idx="minor">
      <a:schemeClr val="tx2"/>
    </cs:fontRef>
    <cs:defRPr sz="1197"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1197" kern="1200"/>
  </cs:chartArea>
  <cs:dataLabel>
    <cs:lnRef idx="0"/>
    <cs:fillRef idx="0"/>
    <cs:effectRef idx="0"/>
    <cs:fontRef idx="minor">
      <a:schemeClr val="tx2"/>
    </cs:fontRef>
    <cs:defRPr sz="1197"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lumOff val="2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1197"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1197"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2128"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1197"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1197" kern="1200"/>
  </cs:valueAxis>
  <cs:wall>
    <cs:lnRef idx="0"/>
    <cs:fillRef idx="0"/>
    <cs:effectRef idx="0"/>
    <cs:fontRef idx="minor">
      <a:schemeClr val="tx2"/>
    </cs:fontRef>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43910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7165" tIns="73582" rIns="147165" bIns="73582" numCol="1" anchor="t" anchorCtr="0" compatLnSpc="1">
            <a:prstTxWarp prst="textNoShape">
              <a:avLst/>
            </a:prstTxWarp>
          </a:bodyPr>
          <a:lstStyle>
            <a:lvl1pPr algn="l" defTabSz="1471613">
              <a:spcBef>
                <a:spcPct val="0"/>
              </a:spcBef>
              <a:buClrTx/>
              <a:buSzTx/>
              <a:defRPr sz="1900">
                <a:solidFill>
                  <a:schemeClr val="tx1"/>
                </a:solidFill>
                <a:cs typeface="Arial" charset="0"/>
              </a:defRPr>
            </a:lvl1pPr>
          </a:lstStyle>
          <a:p>
            <a:endParaRPr lang="en-US"/>
          </a:p>
        </p:txBody>
      </p:sp>
      <p:sp>
        <p:nvSpPr>
          <p:cNvPr id="15363" name="Rectangle 3"/>
          <p:cNvSpPr>
            <a:spLocks noGrp="1" noChangeArrowheads="1"/>
          </p:cNvSpPr>
          <p:nvPr>
            <p:ph type="dt" sz="quarter" idx="1"/>
          </p:nvPr>
        </p:nvSpPr>
        <p:spPr bwMode="auto">
          <a:xfrm>
            <a:off x="5741988" y="0"/>
            <a:ext cx="4391025" cy="779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7165" tIns="73582" rIns="147165" bIns="73582" numCol="1" anchor="t" anchorCtr="0" compatLnSpc="1">
            <a:prstTxWarp prst="textNoShape">
              <a:avLst/>
            </a:prstTxWarp>
          </a:bodyPr>
          <a:lstStyle>
            <a:lvl1pPr algn="r" defTabSz="1471613">
              <a:spcBef>
                <a:spcPct val="0"/>
              </a:spcBef>
              <a:buClrTx/>
              <a:buSzTx/>
              <a:defRPr sz="1900">
                <a:solidFill>
                  <a:schemeClr val="tx1"/>
                </a:solidFill>
                <a:cs typeface="Arial" charset="0"/>
              </a:defRPr>
            </a:lvl1pPr>
          </a:lstStyle>
          <a:p>
            <a:endParaRPr lang="en-US"/>
          </a:p>
        </p:txBody>
      </p:sp>
      <p:sp>
        <p:nvSpPr>
          <p:cNvPr id="15364" name="Rectangle 4"/>
          <p:cNvSpPr>
            <a:spLocks noGrp="1" noChangeArrowheads="1"/>
          </p:cNvSpPr>
          <p:nvPr>
            <p:ph type="ftr" sz="quarter" idx="2"/>
          </p:nvPr>
        </p:nvSpPr>
        <p:spPr bwMode="auto">
          <a:xfrm>
            <a:off x="0" y="14838363"/>
            <a:ext cx="4391025"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7165" tIns="73582" rIns="147165" bIns="73582" numCol="1" anchor="b" anchorCtr="0" compatLnSpc="1">
            <a:prstTxWarp prst="textNoShape">
              <a:avLst/>
            </a:prstTxWarp>
          </a:bodyPr>
          <a:lstStyle>
            <a:lvl1pPr algn="l" defTabSz="1471613">
              <a:spcBef>
                <a:spcPct val="0"/>
              </a:spcBef>
              <a:buClrTx/>
              <a:buSzTx/>
              <a:defRPr sz="1900">
                <a:solidFill>
                  <a:schemeClr val="tx1"/>
                </a:solidFill>
                <a:cs typeface="Arial" charset="0"/>
              </a:defRPr>
            </a:lvl1pPr>
          </a:lstStyle>
          <a:p>
            <a:endParaRPr lang="en-US"/>
          </a:p>
        </p:txBody>
      </p:sp>
      <p:sp>
        <p:nvSpPr>
          <p:cNvPr id="15365" name="Rectangle 5"/>
          <p:cNvSpPr>
            <a:spLocks noGrp="1" noChangeArrowheads="1"/>
          </p:cNvSpPr>
          <p:nvPr>
            <p:ph type="sldNum" sz="quarter" idx="3"/>
          </p:nvPr>
        </p:nvSpPr>
        <p:spPr bwMode="auto">
          <a:xfrm>
            <a:off x="5741988" y="14838363"/>
            <a:ext cx="4391025" cy="779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47165" tIns="73582" rIns="147165" bIns="73582" numCol="1" anchor="b" anchorCtr="0" compatLnSpc="1">
            <a:prstTxWarp prst="textNoShape">
              <a:avLst/>
            </a:prstTxWarp>
          </a:bodyPr>
          <a:lstStyle>
            <a:lvl1pPr algn="r" defTabSz="1471613">
              <a:spcBef>
                <a:spcPct val="0"/>
              </a:spcBef>
              <a:buClrTx/>
              <a:buSzTx/>
              <a:defRPr sz="1900">
                <a:solidFill>
                  <a:schemeClr val="tx1"/>
                </a:solidFill>
                <a:cs typeface="Arial" charset="0"/>
              </a:defRPr>
            </a:lvl1pPr>
          </a:lstStyle>
          <a:p>
            <a:fld id="{D22E0952-7410-4C9E-8B3B-F816B6FE379E}" type="slidenum">
              <a:rPr lang="en-US"/>
              <a:pPr/>
              <a:t>‹#›</a:t>
            </a:fld>
            <a:endParaRPr lang="en-US"/>
          </a:p>
        </p:txBody>
      </p:sp>
    </p:spTree>
    <p:extLst>
      <p:ext uri="{BB962C8B-B14F-4D97-AF65-F5344CB8AC3E}">
        <p14:creationId xmlns:p14="http://schemas.microsoft.com/office/powerpoint/2010/main" val="23575816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43910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spcBef>
                <a:spcPct val="0"/>
              </a:spcBef>
              <a:buClrTx/>
              <a:buSzTx/>
              <a:defRPr sz="1200">
                <a:solidFill>
                  <a:schemeClr val="tx1"/>
                </a:solidFill>
                <a:cs typeface="Arial" charset="0"/>
              </a:defRPr>
            </a:lvl1pPr>
          </a:lstStyle>
          <a:p>
            <a:endParaRPr lang="en-US"/>
          </a:p>
        </p:txBody>
      </p:sp>
      <p:sp>
        <p:nvSpPr>
          <p:cNvPr id="32771" name="Rectangle 3"/>
          <p:cNvSpPr>
            <a:spLocks noGrp="1" noChangeArrowheads="1"/>
          </p:cNvSpPr>
          <p:nvPr>
            <p:ph type="dt" idx="1"/>
          </p:nvPr>
        </p:nvSpPr>
        <p:spPr bwMode="auto">
          <a:xfrm>
            <a:off x="5740400" y="0"/>
            <a:ext cx="4392613"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spcBef>
                <a:spcPct val="0"/>
              </a:spcBef>
              <a:buClrTx/>
              <a:buSzTx/>
              <a:defRPr sz="1200">
                <a:solidFill>
                  <a:schemeClr val="tx1"/>
                </a:solidFill>
                <a:cs typeface="Arial" charset="0"/>
              </a:defRPr>
            </a:lvl1pPr>
          </a:lstStyle>
          <a:p>
            <a:endParaRPr lang="en-US"/>
          </a:p>
        </p:txBody>
      </p:sp>
      <p:sp>
        <p:nvSpPr>
          <p:cNvPr id="32772" name="Rectangle 4"/>
          <p:cNvSpPr>
            <a:spLocks noGrp="1" noRot="1" noChangeAspect="1" noChangeArrowheads="1" noTextEdit="1"/>
          </p:cNvSpPr>
          <p:nvPr>
            <p:ph type="sldImg" idx="2"/>
          </p:nvPr>
        </p:nvSpPr>
        <p:spPr bwMode="auto">
          <a:xfrm>
            <a:off x="1050925" y="1171575"/>
            <a:ext cx="8032750" cy="585787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1012825" y="7419975"/>
            <a:ext cx="8108950" cy="702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774" name="Rectangle 6"/>
          <p:cNvSpPr>
            <a:spLocks noGrp="1" noChangeArrowheads="1"/>
          </p:cNvSpPr>
          <p:nvPr>
            <p:ph type="ftr" sz="quarter" idx="4"/>
          </p:nvPr>
        </p:nvSpPr>
        <p:spPr bwMode="auto">
          <a:xfrm>
            <a:off x="0" y="14836775"/>
            <a:ext cx="4391025"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spcBef>
                <a:spcPct val="0"/>
              </a:spcBef>
              <a:buClrTx/>
              <a:buSzTx/>
              <a:defRPr sz="1200">
                <a:solidFill>
                  <a:schemeClr val="tx1"/>
                </a:solidFill>
                <a:cs typeface="Arial" charset="0"/>
              </a:defRPr>
            </a:lvl1pPr>
          </a:lstStyle>
          <a:p>
            <a:endParaRPr lang="en-US"/>
          </a:p>
        </p:txBody>
      </p:sp>
      <p:sp>
        <p:nvSpPr>
          <p:cNvPr id="32775" name="Rectangle 7"/>
          <p:cNvSpPr>
            <a:spLocks noGrp="1" noChangeArrowheads="1"/>
          </p:cNvSpPr>
          <p:nvPr>
            <p:ph type="sldNum" sz="quarter" idx="5"/>
          </p:nvPr>
        </p:nvSpPr>
        <p:spPr bwMode="auto">
          <a:xfrm>
            <a:off x="5740400" y="14836775"/>
            <a:ext cx="4392613"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spcBef>
                <a:spcPct val="0"/>
              </a:spcBef>
              <a:buClrTx/>
              <a:buSzTx/>
              <a:defRPr sz="1200">
                <a:solidFill>
                  <a:schemeClr val="tx1"/>
                </a:solidFill>
                <a:cs typeface="Arial" charset="0"/>
              </a:defRPr>
            </a:lvl1pPr>
          </a:lstStyle>
          <a:p>
            <a:fld id="{F220029D-5830-4312-8A46-9BD94FFBAB52}" type="slidenum">
              <a:rPr lang="en-US"/>
              <a:pPr/>
              <a:t>‹#›</a:t>
            </a:fld>
            <a:endParaRPr lang="en-US"/>
          </a:p>
        </p:txBody>
      </p:sp>
    </p:spTree>
    <p:extLst>
      <p:ext uri="{BB962C8B-B14F-4D97-AF65-F5344CB8AC3E}">
        <p14:creationId xmlns:p14="http://schemas.microsoft.com/office/powerpoint/2010/main" val="248565251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Arial" charset="0"/>
      </a:defRPr>
    </a:lvl1pPr>
    <a:lvl2pPr marL="457200" algn="l" rtl="0" fontAlgn="base">
      <a:spcBef>
        <a:spcPct val="30000"/>
      </a:spcBef>
      <a:spcAft>
        <a:spcPct val="0"/>
      </a:spcAft>
      <a:defRPr sz="1200" kern="1200">
        <a:solidFill>
          <a:schemeClr val="tx1"/>
        </a:solidFill>
        <a:latin typeface="Arial" charset="0"/>
        <a:ea typeface="+mn-ea"/>
        <a:cs typeface="Arial" charset="0"/>
      </a:defRPr>
    </a:lvl2pPr>
    <a:lvl3pPr marL="914400" algn="l" rtl="0" fontAlgn="base">
      <a:spcBef>
        <a:spcPct val="30000"/>
      </a:spcBef>
      <a:spcAft>
        <a:spcPct val="0"/>
      </a:spcAft>
      <a:defRPr sz="1200" kern="1200">
        <a:solidFill>
          <a:schemeClr val="tx1"/>
        </a:solidFill>
        <a:latin typeface="Arial" charset="0"/>
        <a:ea typeface="+mn-ea"/>
        <a:cs typeface="Arial" charset="0"/>
      </a:defRPr>
    </a:lvl3pPr>
    <a:lvl4pPr marL="1371600" algn="l" rtl="0" fontAlgn="base">
      <a:spcBef>
        <a:spcPct val="30000"/>
      </a:spcBef>
      <a:spcAft>
        <a:spcPct val="0"/>
      </a:spcAft>
      <a:defRPr sz="1200" kern="1200">
        <a:solidFill>
          <a:schemeClr val="tx1"/>
        </a:solidFill>
        <a:latin typeface="Arial" charset="0"/>
        <a:ea typeface="+mn-ea"/>
        <a:cs typeface="Arial" charset="0"/>
      </a:defRPr>
    </a:lvl4pPr>
    <a:lvl5pPr marL="1828800" algn="l" rtl="0" fontAlgn="base">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03F709-9221-4ECC-903C-0EE240393156}" type="slidenum">
              <a:rPr lang="en-US"/>
              <a:pPr/>
              <a:t>1</a:t>
            </a:fld>
            <a:endParaRPr lang="en-US"/>
          </a:p>
        </p:txBody>
      </p:sp>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p:txBody>
          <a:bodyPr/>
          <a:lstStyle/>
          <a:p>
            <a:pPr algn="l"/>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30" name="Freeform: Shape 29">
            <a:extLst>
              <a:ext uri="{FF2B5EF4-FFF2-40B4-BE49-F238E27FC236}">
                <a16:creationId xmlns:a16="http://schemas.microsoft.com/office/drawing/2014/main" id="{FE374FA7-4005-4FA7-AD81-C92F6EEC7E62}"/>
              </a:ext>
            </a:extLst>
          </p:cNvPr>
          <p:cNvSpPr/>
          <p:nvPr userDrawn="1"/>
        </p:nvSpPr>
        <p:spPr>
          <a:xfrm>
            <a:off x="-1" y="2670048"/>
            <a:ext cx="21945600" cy="13331952"/>
          </a:xfrm>
          <a:custGeom>
            <a:avLst/>
            <a:gdLst>
              <a:gd name="connsiteX0" fmla="*/ 0 w 21945600"/>
              <a:gd name="connsiteY0" fmla="*/ 0 h 13350240"/>
              <a:gd name="connsiteX1" fmla="*/ 476250 w 21945600"/>
              <a:gd name="connsiteY1" fmla="*/ 0 h 13350240"/>
              <a:gd name="connsiteX2" fmla="*/ 476250 w 21945600"/>
              <a:gd name="connsiteY2" fmla="*/ 12867640 h 13350240"/>
              <a:gd name="connsiteX3" fmla="*/ 21459826 w 21945600"/>
              <a:gd name="connsiteY3" fmla="*/ 12867640 h 13350240"/>
              <a:gd name="connsiteX4" fmla="*/ 21459826 w 21945600"/>
              <a:gd name="connsiteY4" fmla="*/ 0 h 13350240"/>
              <a:gd name="connsiteX5" fmla="*/ 21945600 w 21945600"/>
              <a:gd name="connsiteY5" fmla="*/ 0 h 13350240"/>
              <a:gd name="connsiteX6" fmla="*/ 21945600 w 21945600"/>
              <a:gd name="connsiteY6" fmla="*/ 13350240 h 13350240"/>
              <a:gd name="connsiteX7" fmla="*/ 0 w 21945600"/>
              <a:gd name="connsiteY7" fmla="*/ 13350240 h 13350240"/>
              <a:gd name="connsiteX8" fmla="*/ 0 w 21945600"/>
              <a:gd name="connsiteY8" fmla="*/ 0 h 13350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945600" h="13350240">
                <a:moveTo>
                  <a:pt x="0" y="0"/>
                </a:moveTo>
                <a:lnTo>
                  <a:pt x="476250" y="0"/>
                </a:lnTo>
                <a:lnTo>
                  <a:pt x="476250" y="12867640"/>
                </a:lnTo>
                <a:lnTo>
                  <a:pt x="21459826" y="12867640"/>
                </a:lnTo>
                <a:lnTo>
                  <a:pt x="21459826" y="0"/>
                </a:lnTo>
                <a:lnTo>
                  <a:pt x="21945600" y="0"/>
                </a:lnTo>
                <a:lnTo>
                  <a:pt x="21945600" y="13350240"/>
                </a:lnTo>
                <a:lnTo>
                  <a:pt x="0" y="13350240"/>
                </a:lnTo>
                <a:lnTo>
                  <a:pt x="0" y="0"/>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3B10340A-3CB2-8C48-977C-55A97D30C6B1}"/>
              </a:ext>
            </a:extLst>
          </p:cNvPr>
          <p:cNvSpPr/>
          <p:nvPr userDrawn="1"/>
        </p:nvSpPr>
        <p:spPr>
          <a:xfrm>
            <a:off x="476250" y="609600"/>
            <a:ext cx="20983574" cy="14909800"/>
          </a:xfrm>
          <a:prstGeom prst="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238B8B4B-D76A-624B-8D4E-36EC42507116}"/>
              </a:ext>
            </a:extLst>
          </p:cNvPr>
          <p:cNvCxnSpPr>
            <a:cxnSpLocks/>
          </p:cNvCxnSpPr>
          <p:nvPr userDrawn="1"/>
        </p:nvCxnSpPr>
        <p:spPr bwMode="auto">
          <a:xfrm flipH="1">
            <a:off x="3594248" y="14980196"/>
            <a:ext cx="934209" cy="454550"/>
          </a:xfrm>
          <a:prstGeom prst="straightConnector1">
            <a:avLst/>
          </a:pr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 name="TextBox 3">
            <a:extLst>
              <a:ext uri="{FF2B5EF4-FFF2-40B4-BE49-F238E27FC236}">
                <a16:creationId xmlns:a16="http://schemas.microsoft.com/office/drawing/2014/main" id="{9A4D3E08-1F6A-2340-B600-66FB8BDAE342}"/>
              </a:ext>
            </a:extLst>
          </p:cNvPr>
          <p:cNvSpPr txBox="1"/>
          <p:nvPr userDrawn="1"/>
        </p:nvSpPr>
        <p:spPr>
          <a:xfrm>
            <a:off x="4561532" y="14272310"/>
            <a:ext cx="4289860" cy="892552"/>
          </a:xfrm>
          <a:prstGeom prst="rect">
            <a:avLst/>
          </a:prstGeom>
          <a:noFill/>
        </p:spPr>
        <p:txBody>
          <a:bodyPr wrap="square" rtlCol="0">
            <a:spAutoFit/>
          </a:bodyPr>
          <a:lstStyle/>
          <a:p>
            <a:pPr algn="l"/>
            <a:r>
              <a:rPr lang="en-US" sz="2600">
                <a:solidFill>
                  <a:schemeClr val="tx1"/>
                </a:solidFill>
                <a:latin typeface="+mn-lt"/>
              </a:rPr>
              <a:t>Copyright belongs in bottom left hand corner.</a:t>
            </a:r>
          </a:p>
        </p:txBody>
      </p:sp>
      <p:sp>
        <p:nvSpPr>
          <p:cNvPr id="17" name="TextBox 16">
            <a:extLst>
              <a:ext uri="{FF2B5EF4-FFF2-40B4-BE49-F238E27FC236}">
                <a16:creationId xmlns:a16="http://schemas.microsoft.com/office/drawing/2014/main" id="{FC4D2EA9-0F0F-4848-A796-3BB9AC4EF940}"/>
              </a:ext>
            </a:extLst>
          </p:cNvPr>
          <p:cNvSpPr txBox="1"/>
          <p:nvPr userDrawn="1"/>
        </p:nvSpPr>
        <p:spPr>
          <a:xfrm>
            <a:off x="4114800" y="609599"/>
            <a:ext cx="13716000" cy="1243584"/>
          </a:xfrm>
          <a:prstGeom prst="rect">
            <a:avLst/>
          </a:prstGeom>
          <a:noFill/>
          <a:ln>
            <a:solidFill>
              <a:schemeClr val="accent2"/>
            </a:solidFill>
          </a:ln>
        </p:spPr>
        <p:txBody>
          <a:bodyPr wrap="square" lIns="91440" tIns="0" rIns="91440" bIns="91440" rtlCol="0">
            <a:spAutoFit/>
          </a:bodyPr>
          <a:lstStyle/>
          <a:p>
            <a:pPr algn="ctr">
              <a:lnSpc>
                <a:spcPct val="90000"/>
              </a:lnSpc>
              <a:buClrTx/>
              <a:buSzTx/>
            </a:pPr>
            <a:r>
              <a:rPr lang="en-US" altLang="en-US" sz="4000" b="1">
                <a:solidFill>
                  <a:schemeClr val="bg1"/>
                </a:solidFill>
              </a:rPr>
              <a:t>Poster Title Goes Here Poster Title Goes Here </a:t>
            </a:r>
            <a:br>
              <a:rPr lang="en-US" altLang="en-US" sz="4000" b="1">
                <a:solidFill>
                  <a:schemeClr val="bg1"/>
                </a:solidFill>
              </a:rPr>
            </a:br>
            <a:r>
              <a:rPr lang="en-US" altLang="en-US" sz="4000" b="1">
                <a:solidFill>
                  <a:schemeClr val="bg1"/>
                </a:solidFill>
              </a:rPr>
              <a:t>Poster Title Goes Here</a:t>
            </a:r>
          </a:p>
        </p:txBody>
      </p:sp>
      <p:sp>
        <p:nvSpPr>
          <p:cNvPr id="25" name="TextBox 24">
            <a:extLst>
              <a:ext uri="{FF2B5EF4-FFF2-40B4-BE49-F238E27FC236}">
                <a16:creationId xmlns:a16="http://schemas.microsoft.com/office/drawing/2014/main" id="{3B43B7EB-34AC-40F1-BBD0-D564C48C7714}"/>
              </a:ext>
            </a:extLst>
          </p:cNvPr>
          <p:cNvSpPr txBox="1"/>
          <p:nvPr userDrawn="1"/>
        </p:nvSpPr>
        <p:spPr>
          <a:xfrm>
            <a:off x="4114800" y="1864740"/>
            <a:ext cx="13716000" cy="783210"/>
          </a:xfrm>
          <a:prstGeom prst="rect">
            <a:avLst/>
          </a:prstGeom>
          <a:noFill/>
          <a:ln>
            <a:solidFill>
              <a:schemeClr val="accent2"/>
            </a:solidFill>
          </a:ln>
        </p:spPr>
        <p:txBody>
          <a:bodyPr wrap="square" bIns="182880" rtlCol="0">
            <a:noAutofit/>
          </a:bodyPr>
          <a:lstStyle/>
          <a:p>
            <a:pPr algn="ctr">
              <a:lnSpc>
                <a:spcPct val="90000"/>
              </a:lnSpc>
              <a:buClrTx/>
              <a:buSzTx/>
            </a:pPr>
            <a:r>
              <a:rPr lang="en-US" altLang="en-US" sz="1600" b="1">
                <a:solidFill>
                  <a:schemeClr val="bg1"/>
                </a:solidFill>
              </a:rPr>
              <a:t>Click to edit author/affiliation area</a:t>
            </a:r>
          </a:p>
        </p:txBody>
      </p:sp>
      <p:sp>
        <p:nvSpPr>
          <p:cNvPr id="31" name="Rectangle 30">
            <a:extLst>
              <a:ext uri="{FF2B5EF4-FFF2-40B4-BE49-F238E27FC236}">
                <a16:creationId xmlns:a16="http://schemas.microsoft.com/office/drawing/2014/main" id="{17C3E066-2B7E-417E-B212-EF6FED998B3D}"/>
              </a:ext>
            </a:extLst>
          </p:cNvPr>
          <p:cNvSpPr/>
          <p:nvPr userDrawn="1"/>
        </p:nvSpPr>
        <p:spPr>
          <a:xfrm>
            <a:off x="7461352" y="3220290"/>
            <a:ext cx="7022896" cy="5453801"/>
          </a:xfrm>
          <a:prstGeom prst="rect">
            <a:avLst/>
          </a:prstGeom>
        </p:spPr>
        <p:txBody>
          <a:bodyPr wrap="square">
            <a:spAutoFit/>
          </a:bodyPr>
          <a:lstStyle/>
          <a:p>
            <a:pPr algn="l"/>
            <a:r>
              <a:rPr lang="en-US" sz="2600" b="1">
                <a:solidFill>
                  <a:schemeClr val="tx1"/>
                </a:solidFill>
                <a:latin typeface="+mn-lt"/>
              </a:rPr>
              <a:t>Poster Header (Brand Safe Area): </a:t>
            </a:r>
            <a:br>
              <a:rPr lang="en-US" sz="2600" b="1">
                <a:solidFill>
                  <a:schemeClr val="tx1"/>
                </a:solidFill>
                <a:latin typeface="+mn-lt"/>
              </a:rPr>
            </a:br>
            <a:r>
              <a:rPr lang="en-US" sz="2600">
                <a:solidFill>
                  <a:schemeClr val="tx1"/>
                </a:solidFill>
                <a:latin typeface="+mn-lt"/>
              </a:rPr>
              <a:t>The banner/header should ONLY contain the Mayo Clinic logo, title and author/affiliation text. Title/author text boxes may be stretched left and right to fit copy but should not move vertically. No other logos, photos, images, patterns or art are allowed within this area. </a:t>
            </a:r>
          </a:p>
          <a:p>
            <a:pPr algn="l"/>
            <a:endParaRPr lang="en-US" sz="2600">
              <a:solidFill>
                <a:schemeClr val="tx1"/>
              </a:solidFill>
              <a:latin typeface="+mn-lt"/>
            </a:endParaRPr>
          </a:p>
          <a:p>
            <a:pPr algn="l"/>
            <a:r>
              <a:rPr lang="en-US" sz="2600" b="1" i="0">
                <a:solidFill>
                  <a:schemeClr val="tx1"/>
                </a:solidFill>
                <a:latin typeface="+mn-lt"/>
              </a:rPr>
              <a:t>Poster Body: </a:t>
            </a:r>
            <a:r>
              <a:rPr lang="en-US" sz="2600">
                <a:solidFill>
                  <a:schemeClr val="tx1"/>
                </a:solidFill>
                <a:latin typeface="+mn-lt"/>
              </a:rPr>
              <a:t>Your text, figures, tables and graphs should appear within this area. View guides to see the required border space. No photos, illustrations, patterns or graphics are allowed in the background of the poster.</a:t>
            </a:r>
          </a:p>
        </p:txBody>
      </p:sp>
      <p:sp>
        <p:nvSpPr>
          <p:cNvPr id="32" name="TextBox 31">
            <a:extLst>
              <a:ext uri="{FF2B5EF4-FFF2-40B4-BE49-F238E27FC236}">
                <a16:creationId xmlns:a16="http://schemas.microsoft.com/office/drawing/2014/main" id="{8AD441B4-4CB4-4FDA-90C8-35B4036131E9}"/>
              </a:ext>
            </a:extLst>
          </p:cNvPr>
          <p:cNvSpPr txBox="1"/>
          <p:nvPr userDrawn="1"/>
        </p:nvSpPr>
        <p:spPr>
          <a:xfrm>
            <a:off x="11447018" y="12555516"/>
            <a:ext cx="7279894" cy="1692771"/>
          </a:xfrm>
          <a:prstGeom prst="rect">
            <a:avLst/>
          </a:prstGeom>
          <a:noFill/>
        </p:spPr>
        <p:txBody>
          <a:bodyPr wrap="square" rtlCol="0">
            <a:spAutoFit/>
          </a:bodyPr>
          <a:lstStyle/>
          <a:p>
            <a:pPr algn="l"/>
            <a:r>
              <a:rPr lang="en-US" sz="2600">
                <a:solidFill>
                  <a:schemeClr val="tx1"/>
                </a:solidFill>
                <a:latin typeface="+mn-lt"/>
              </a:rPr>
              <a:t>Affiliate/Partner Logos: A logo representing another non-Mayo listed contributing affiliation or partner may be placed in the bottom right corner within yellow guideline spaces.</a:t>
            </a:r>
          </a:p>
        </p:txBody>
      </p:sp>
      <p:sp>
        <p:nvSpPr>
          <p:cNvPr id="33" name="TextBox 32">
            <a:extLst>
              <a:ext uri="{FF2B5EF4-FFF2-40B4-BE49-F238E27FC236}">
                <a16:creationId xmlns:a16="http://schemas.microsoft.com/office/drawing/2014/main" id="{BD3C3CDE-83FE-4670-81A5-F9A0E4948E96}"/>
              </a:ext>
            </a:extLst>
          </p:cNvPr>
          <p:cNvSpPr txBox="1"/>
          <p:nvPr userDrawn="1"/>
        </p:nvSpPr>
        <p:spPr>
          <a:xfrm>
            <a:off x="6102352" y="9934776"/>
            <a:ext cx="9740896" cy="646331"/>
          </a:xfrm>
          <a:prstGeom prst="rect">
            <a:avLst/>
          </a:prstGeom>
          <a:noFill/>
        </p:spPr>
        <p:txBody>
          <a:bodyPr wrap="square" rtlCol="0">
            <a:spAutoFit/>
          </a:bodyPr>
          <a:lstStyle/>
          <a:p>
            <a:pPr algn="ctr"/>
            <a:r>
              <a:rPr lang="en-US" sz="3600" b="1">
                <a:solidFill>
                  <a:srgbClr val="FF0000"/>
                </a:solidFill>
                <a:latin typeface="+mn-lt"/>
              </a:rPr>
              <a:t>THIS TEMPLATE IS HALF SIZE</a:t>
            </a:r>
          </a:p>
        </p:txBody>
      </p:sp>
      <p:sp>
        <p:nvSpPr>
          <p:cNvPr id="34" name="Rectangle 33">
            <a:extLst>
              <a:ext uri="{FF2B5EF4-FFF2-40B4-BE49-F238E27FC236}">
                <a16:creationId xmlns:a16="http://schemas.microsoft.com/office/drawing/2014/main" id="{9878509B-63E9-412B-9AF5-756AAB529E0E}"/>
              </a:ext>
            </a:extLst>
          </p:cNvPr>
          <p:cNvSpPr>
            <a:spLocks noChangeAspect="1"/>
          </p:cNvSpPr>
          <p:nvPr userDrawn="1"/>
        </p:nvSpPr>
        <p:spPr bwMode="auto">
          <a:xfrm>
            <a:off x="20410039"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5" name="Rectangle 34">
            <a:extLst>
              <a:ext uri="{FF2B5EF4-FFF2-40B4-BE49-F238E27FC236}">
                <a16:creationId xmlns:a16="http://schemas.microsoft.com/office/drawing/2014/main" id="{7C6777DA-03DA-4B07-ACC6-1686A826C905}"/>
              </a:ext>
            </a:extLst>
          </p:cNvPr>
          <p:cNvSpPr>
            <a:spLocks noChangeAspect="1"/>
          </p:cNvSpPr>
          <p:nvPr userDrawn="1"/>
        </p:nvSpPr>
        <p:spPr bwMode="auto">
          <a:xfrm>
            <a:off x="19383344"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6" name="Rectangle 35">
            <a:extLst>
              <a:ext uri="{FF2B5EF4-FFF2-40B4-BE49-F238E27FC236}">
                <a16:creationId xmlns:a16="http://schemas.microsoft.com/office/drawing/2014/main" id="{F2E27978-E973-4C4F-A1D7-F0EC4F4B3ED3}"/>
              </a:ext>
            </a:extLst>
          </p:cNvPr>
          <p:cNvSpPr>
            <a:spLocks noChangeAspect="1"/>
          </p:cNvSpPr>
          <p:nvPr userDrawn="1"/>
        </p:nvSpPr>
        <p:spPr bwMode="auto">
          <a:xfrm>
            <a:off x="18347024" y="14468300"/>
            <a:ext cx="1049786" cy="1051560"/>
          </a:xfrm>
          <a:prstGeom prst="rect">
            <a:avLst/>
          </a:prstGeom>
          <a:noFill/>
          <a:ln w="76200">
            <a:solidFill>
              <a:schemeClr val="accent3"/>
            </a:solidFill>
          </a:ln>
        </p:spPr>
        <p:style>
          <a:lnRef idx="2">
            <a:schemeClr val="accent1"/>
          </a:lnRef>
          <a:fillRef idx="1">
            <a:schemeClr val="lt1"/>
          </a:fillRef>
          <a:effectRef idx="0">
            <a:schemeClr val="accent1"/>
          </a:effectRef>
          <a:fontRef idx="minor">
            <a:schemeClr val="dk1"/>
          </a:fontRef>
        </p:style>
        <p:txBody>
          <a:bodyPr vert="horz" wrap="square" lIns="137160" tIns="137160" rIns="137160" bIns="137160" numCol="1" rtlCol="0" anchor="t" anchorCtr="0" compatLnSpc="1">
            <a:prstTxWarp prst="textNoShape">
              <a:avLst/>
            </a:prstTxWarp>
            <a:spAutoFit/>
          </a:bodyPr>
          <a:lstStyle/>
          <a:p>
            <a:pPr marL="0" marR="0" indent="0" algn="l" defTabSz="3370263" rtl="0" eaLnBrk="1" fontAlgn="base" latinLnBrk="0" hangingPunct="1">
              <a:lnSpc>
                <a:spcPct val="100000"/>
              </a:lnSpc>
              <a:spcBef>
                <a:spcPct val="0"/>
              </a:spcBef>
              <a:spcAft>
                <a:spcPct val="0"/>
              </a:spcAft>
              <a:buClrTx/>
              <a:buSzTx/>
              <a:buFontTx/>
              <a:buNone/>
              <a:tabLst/>
            </a:pPr>
            <a:endParaRPr kumimoji="0" lang="en-US" sz="6600" b="0" i="0" u="none" strike="noStrike" cap="none" normalizeH="0" baseline="0">
              <a:ln>
                <a:noFill/>
              </a:ln>
              <a:solidFill>
                <a:schemeClr val="tx1"/>
              </a:solidFill>
              <a:effectLst/>
              <a:latin typeface="Arial" charset="0"/>
              <a:cs typeface="Arial" charset="0"/>
            </a:endParaRPr>
          </a:p>
        </p:txBody>
      </p:sp>
      <p:sp>
        <p:nvSpPr>
          <p:cNvPr id="37" name="Freeform: Shape 36">
            <a:extLst>
              <a:ext uri="{FF2B5EF4-FFF2-40B4-BE49-F238E27FC236}">
                <a16:creationId xmlns:a16="http://schemas.microsoft.com/office/drawing/2014/main" id="{E84208F4-9C1B-492F-AA48-BEB2AEFEF030}"/>
              </a:ext>
            </a:extLst>
          </p:cNvPr>
          <p:cNvSpPr/>
          <p:nvPr userDrawn="1"/>
        </p:nvSpPr>
        <p:spPr>
          <a:xfrm>
            <a:off x="17263872" y="14063472"/>
            <a:ext cx="930752" cy="810768"/>
          </a:xfrm>
          <a:custGeom>
            <a:avLst/>
            <a:gdLst>
              <a:gd name="connsiteX0" fmla="*/ 0 w 914400"/>
              <a:gd name="connsiteY0" fmla="*/ 0 h 457200"/>
              <a:gd name="connsiteX1" fmla="*/ 914400 w 914400"/>
              <a:gd name="connsiteY1" fmla="*/ 457200 h 457200"/>
            </a:gdLst>
            <a:ahLst/>
            <a:cxnLst>
              <a:cxn ang="0">
                <a:pos x="connsiteX0" y="connsiteY0"/>
              </a:cxn>
              <a:cxn ang="0">
                <a:pos x="connsiteX1" y="connsiteY1"/>
              </a:cxn>
            </a:cxnLst>
            <a:rect l="l" t="t" r="r" b="b"/>
            <a:pathLst>
              <a:path w="914400" h="457200">
                <a:moveTo>
                  <a:pt x="0" y="0"/>
                </a:moveTo>
                <a:lnTo>
                  <a:pt x="914400" y="457200"/>
                </a:lnTo>
              </a:path>
            </a:pathLst>
          </a:cu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algn="ctr"/>
            <a:endParaRPr lang="en-US"/>
          </a:p>
        </p:txBody>
      </p:sp>
      <p:sp>
        <p:nvSpPr>
          <p:cNvPr id="38" name="TextBox 37">
            <a:extLst>
              <a:ext uri="{FF2B5EF4-FFF2-40B4-BE49-F238E27FC236}">
                <a16:creationId xmlns:a16="http://schemas.microsoft.com/office/drawing/2014/main" id="{67305307-0585-4DE3-BB4F-AB43D958B49F}"/>
              </a:ext>
            </a:extLst>
          </p:cNvPr>
          <p:cNvSpPr txBox="1"/>
          <p:nvPr userDrawn="1"/>
        </p:nvSpPr>
        <p:spPr>
          <a:xfrm>
            <a:off x="1685413" y="10973308"/>
            <a:ext cx="6042741" cy="1692771"/>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sz="2600">
                <a:solidFill>
                  <a:schemeClr val="tx1"/>
                </a:solidFill>
                <a:latin typeface="+mn-lt"/>
              </a:rPr>
              <a:t>Content may NOT go outside the border guide or it may be trimmed off. (Go to the </a:t>
            </a:r>
            <a:r>
              <a:rPr lang="en-US" sz="2600" b="1">
                <a:solidFill>
                  <a:schemeClr val="tx1"/>
                </a:solidFill>
                <a:latin typeface="+mn-lt"/>
              </a:rPr>
              <a:t>View</a:t>
            </a:r>
            <a:r>
              <a:rPr lang="en-US" sz="2600">
                <a:solidFill>
                  <a:schemeClr val="tx1"/>
                </a:solidFill>
                <a:latin typeface="+mn-lt"/>
              </a:rPr>
              <a:t> tab and check the </a:t>
            </a:r>
            <a:r>
              <a:rPr lang="en-US" sz="2600" b="1">
                <a:solidFill>
                  <a:schemeClr val="tx1"/>
                </a:solidFill>
                <a:latin typeface="+mn-lt"/>
              </a:rPr>
              <a:t>Guides</a:t>
            </a:r>
            <a:r>
              <a:rPr lang="en-US" sz="2600">
                <a:solidFill>
                  <a:schemeClr val="tx1"/>
                </a:solidFill>
                <a:latin typeface="+mn-lt"/>
              </a:rPr>
              <a:t> box to see the guide).</a:t>
            </a:r>
          </a:p>
        </p:txBody>
      </p:sp>
      <p:sp>
        <p:nvSpPr>
          <p:cNvPr id="39" name="Freeform: Shape 38">
            <a:extLst>
              <a:ext uri="{FF2B5EF4-FFF2-40B4-BE49-F238E27FC236}">
                <a16:creationId xmlns:a16="http://schemas.microsoft.com/office/drawing/2014/main" id="{A56AA5A8-805A-4874-8F78-B2D3C40217E4}"/>
              </a:ext>
            </a:extLst>
          </p:cNvPr>
          <p:cNvSpPr/>
          <p:nvPr userDrawn="1"/>
        </p:nvSpPr>
        <p:spPr>
          <a:xfrm>
            <a:off x="560439" y="11267767"/>
            <a:ext cx="1002890" cy="0"/>
          </a:xfrm>
          <a:custGeom>
            <a:avLst/>
            <a:gdLst>
              <a:gd name="connsiteX0" fmla="*/ 1002890 w 1002890"/>
              <a:gd name="connsiteY0" fmla="*/ 0 h 0"/>
              <a:gd name="connsiteX1" fmla="*/ 0 w 1002890"/>
              <a:gd name="connsiteY1" fmla="*/ 0 h 0"/>
            </a:gdLst>
            <a:ahLst/>
            <a:cxnLst>
              <a:cxn ang="0">
                <a:pos x="connsiteX0" y="connsiteY0"/>
              </a:cxn>
              <a:cxn ang="0">
                <a:pos x="connsiteX1" y="connsiteY1"/>
              </a:cxn>
            </a:cxnLst>
            <a:rect l="l" t="t" r="r" b="b"/>
            <a:pathLst>
              <a:path w="1002890">
                <a:moveTo>
                  <a:pt x="1002890" y="0"/>
                </a:moveTo>
                <a:lnTo>
                  <a:pt x="0" y="0"/>
                </a:lnTo>
              </a:path>
            </a:pathLst>
          </a:custGeom>
          <a:solidFill>
            <a:schemeClr val="tx2"/>
          </a:solidFill>
          <a:ln w="50800" cap="flat" cmpd="sng" algn="ctr">
            <a:solidFill>
              <a:schemeClr val="accent1"/>
            </a:solidFill>
            <a:prstDash val="solid"/>
            <a:round/>
            <a:headEnd type="none" w="med" len="me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tlCol="0" anchor="ctr"/>
          <a:lstStyle/>
          <a:p>
            <a:pPr lvl="0" algn="ctr"/>
            <a:endParaRPr lang="en-US"/>
          </a:p>
        </p:txBody>
      </p:sp>
      <p:sp>
        <p:nvSpPr>
          <p:cNvPr id="40" name="Rectangle 39">
            <a:extLst>
              <a:ext uri="{FF2B5EF4-FFF2-40B4-BE49-F238E27FC236}">
                <a16:creationId xmlns:a16="http://schemas.microsoft.com/office/drawing/2014/main" id="{A23E61D3-0147-4355-A0A6-1E73BB22665E}"/>
              </a:ext>
            </a:extLst>
          </p:cNvPr>
          <p:cNvSpPr/>
          <p:nvPr userDrawn="1"/>
        </p:nvSpPr>
        <p:spPr>
          <a:xfrm>
            <a:off x="845005" y="3768218"/>
            <a:ext cx="5771342" cy="4534535"/>
          </a:xfrm>
          <a:prstGeom prst="rect">
            <a:avLst/>
          </a:prstGeom>
          <a:solidFill>
            <a:schemeClr val="accent3">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nchorCtr="0"/>
          <a:lstStyle/>
          <a:p>
            <a:pPr lvl="2" algn="l"/>
            <a:r>
              <a:rPr lang="en-US" sz="2600" b="1">
                <a:solidFill>
                  <a:srgbClr val="FF0000"/>
                </a:solidFill>
                <a:latin typeface="+mn-lt"/>
              </a:rPr>
              <a:t>3 TEMPLATE OPTIONS</a:t>
            </a:r>
          </a:p>
          <a:p>
            <a:pPr lvl="2" algn="l"/>
            <a:r>
              <a:rPr lang="en-US" sz="2600">
                <a:solidFill>
                  <a:schemeClr val="tx1"/>
                </a:solidFill>
                <a:latin typeface="+mn-lt"/>
              </a:rPr>
              <a:t>p2 – Blue Banner</a:t>
            </a:r>
          </a:p>
          <a:p>
            <a:pPr lvl="2" algn="l"/>
            <a:r>
              <a:rPr lang="en-US" sz="2600">
                <a:solidFill>
                  <a:schemeClr val="tx1"/>
                </a:solidFill>
                <a:latin typeface="+mn-lt"/>
              </a:rPr>
              <a:t>p3 – Blue Border</a:t>
            </a:r>
          </a:p>
          <a:p>
            <a:pPr lvl="2" algn="l"/>
            <a:r>
              <a:rPr lang="en-US" sz="2600">
                <a:solidFill>
                  <a:schemeClr val="tx1"/>
                </a:solidFill>
                <a:latin typeface="+mn-lt"/>
              </a:rPr>
              <a:t>p4 – Blue “Better Poster”</a:t>
            </a:r>
          </a:p>
          <a:p>
            <a:pPr algn="ctr"/>
            <a:endParaRPr lang="en-US" sz="2600">
              <a:latin typeface="+mn-lt"/>
            </a:endParaRPr>
          </a:p>
          <a:p>
            <a:pPr algn="ctr"/>
            <a:r>
              <a:rPr lang="en-US" sz="2600" b="1">
                <a:solidFill>
                  <a:srgbClr val="FF0000"/>
                </a:solidFill>
                <a:latin typeface="+mn-lt"/>
              </a:rPr>
              <a:t>DELETE UNUSED PAGES </a:t>
            </a:r>
            <a:br>
              <a:rPr lang="en-US" sz="2600" b="1">
                <a:solidFill>
                  <a:srgbClr val="FF0000"/>
                </a:solidFill>
                <a:latin typeface="+mn-lt"/>
              </a:rPr>
            </a:br>
            <a:r>
              <a:rPr lang="en-US" sz="2600">
                <a:solidFill>
                  <a:schemeClr val="tx1"/>
                </a:solidFill>
                <a:latin typeface="+mn-lt"/>
              </a:rPr>
              <a:t>before submitting for print </a:t>
            </a:r>
            <a:br>
              <a:rPr lang="en-US" sz="2600">
                <a:solidFill>
                  <a:schemeClr val="tx1"/>
                </a:solidFill>
                <a:latin typeface="+mn-lt"/>
              </a:rPr>
            </a:br>
            <a:r>
              <a:rPr lang="en-US" sz="2600">
                <a:solidFill>
                  <a:schemeClr val="tx1"/>
                </a:solidFill>
                <a:latin typeface="+mn-lt"/>
              </a:rPr>
              <a:t>or saving a PDF</a:t>
            </a:r>
          </a:p>
        </p:txBody>
      </p:sp>
      <p:sp>
        <p:nvSpPr>
          <p:cNvPr id="41" name="Rectangle 40">
            <a:extLst>
              <a:ext uri="{FF2B5EF4-FFF2-40B4-BE49-F238E27FC236}">
                <a16:creationId xmlns:a16="http://schemas.microsoft.com/office/drawing/2014/main" id="{1FB0CAC6-0D38-47EF-83AA-7F15E2645B43}"/>
              </a:ext>
            </a:extLst>
          </p:cNvPr>
          <p:cNvSpPr/>
          <p:nvPr userDrawn="1"/>
        </p:nvSpPr>
        <p:spPr>
          <a:xfrm>
            <a:off x="15329253" y="3768218"/>
            <a:ext cx="5771342" cy="4534535"/>
          </a:xfrm>
          <a:prstGeom prst="rect">
            <a:avLst/>
          </a:prstGeom>
          <a:solidFill>
            <a:schemeClr val="accent3">
              <a:alpha val="3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5760" rtlCol="0" anchor="t" anchorCtr="0"/>
          <a:lstStyle/>
          <a:p>
            <a:pPr algn="ctr"/>
            <a:r>
              <a:rPr lang="en-US" sz="2600" b="1">
                <a:solidFill>
                  <a:srgbClr val="FF0000"/>
                </a:solidFill>
                <a:latin typeface="+mn-lt"/>
              </a:rPr>
              <a:t>TO AVOID</a:t>
            </a:r>
          </a:p>
          <a:p>
            <a:pPr algn="ctr"/>
            <a:r>
              <a:rPr lang="en-US" sz="2600" b="1">
                <a:solidFill>
                  <a:srgbClr val="FF0000"/>
                </a:solidFill>
                <a:latin typeface="+mn-lt"/>
              </a:rPr>
              <a:t>RE-DESIGN CHARGES</a:t>
            </a:r>
          </a:p>
          <a:p>
            <a:pPr algn="ctr"/>
            <a:endParaRPr lang="en-US" sz="2600" b="1">
              <a:solidFill>
                <a:srgbClr val="FF0000"/>
              </a:solidFill>
              <a:latin typeface="+mn-lt"/>
            </a:endParaRPr>
          </a:p>
          <a:p>
            <a:pPr algn="ctr"/>
            <a:r>
              <a:rPr lang="en-US" sz="2600" b="1">
                <a:solidFill>
                  <a:schemeClr val="tx1"/>
                </a:solidFill>
                <a:latin typeface="+mn-lt"/>
              </a:rPr>
              <a:t>follow these</a:t>
            </a:r>
            <a:endParaRPr lang="en-US" sz="2600">
              <a:solidFill>
                <a:schemeClr val="tx1"/>
              </a:solidFill>
              <a:latin typeface="+mn-lt"/>
            </a:endParaRPr>
          </a:p>
        </p:txBody>
      </p:sp>
      <p:sp>
        <p:nvSpPr>
          <p:cNvPr id="42" name="TextBox 41">
            <a:extLst>
              <a:ext uri="{FF2B5EF4-FFF2-40B4-BE49-F238E27FC236}">
                <a16:creationId xmlns:a16="http://schemas.microsoft.com/office/drawing/2014/main" id="{BA867F3C-5E6F-4EB9-86FF-88AE61E3A709}"/>
              </a:ext>
            </a:extLst>
          </p:cNvPr>
          <p:cNvSpPr txBox="1"/>
          <p:nvPr userDrawn="1"/>
        </p:nvSpPr>
        <p:spPr>
          <a:xfrm>
            <a:off x="17739361" y="672965"/>
            <a:ext cx="3701414" cy="892552"/>
          </a:xfrm>
          <a:prstGeom prst="rect">
            <a:avLst/>
          </a:prstGeom>
          <a:noFill/>
        </p:spPr>
        <p:txBody>
          <a:bodyPr wrap="square" rtlCol="0">
            <a:spAutoFit/>
          </a:bodyPr>
          <a:lstStyle/>
          <a:p>
            <a:pPr algn="r"/>
            <a:r>
              <a:rPr lang="en-US" sz="2600" b="1">
                <a:solidFill>
                  <a:schemeClr val="accent3"/>
                </a:solidFill>
              </a:rPr>
              <a:t>NO IMAGES OR ART IN THIS AREA</a:t>
            </a:r>
          </a:p>
        </p:txBody>
      </p:sp>
      <p:sp>
        <p:nvSpPr>
          <p:cNvPr id="43" name="TextBox 42">
            <a:extLst>
              <a:ext uri="{FF2B5EF4-FFF2-40B4-BE49-F238E27FC236}">
                <a16:creationId xmlns:a16="http://schemas.microsoft.com/office/drawing/2014/main" id="{5ED6A953-26B0-4236-BFAB-CAF7EFE627BB}"/>
              </a:ext>
            </a:extLst>
          </p:cNvPr>
          <p:cNvSpPr txBox="1"/>
          <p:nvPr userDrawn="1"/>
        </p:nvSpPr>
        <p:spPr>
          <a:xfrm>
            <a:off x="17211837" y="2064774"/>
            <a:ext cx="4274223" cy="449826"/>
          </a:xfrm>
          <a:prstGeom prst="rect">
            <a:avLst/>
          </a:prstGeom>
          <a:noFill/>
          <a:ln w="28575">
            <a:noFill/>
          </a:ln>
        </p:spPr>
        <p:txBody>
          <a:bodyPr wrap="square" tIns="91440" bIns="91440" rtlCol="0" anchor="b" anchorCtr="0">
            <a:noAutofit/>
          </a:bodyPr>
          <a:lstStyle>
            <a:defPPr>
              <a:defRPr lang="en-US"/>
            </a:defPPr>
            <a:lvl1pPr algn="ctr">
              <a:defRPr sz="1600" b="1">
                <a:solidFill>
                  <a:schemeClr val="bg2"/>
                </a:solidFill>
              </a:defRPr>
            </a:lvl1pPr>
          </a:lstStyle>
          <a:p>
            <a:pPr lvl="0" algn="r"/>
            <a:r>
              <a:rPr lang="en-US">
                <a:solidFill>
                  <a:schemeClr val="bg1"/>
                </a:solidFill>
              </a:rPr>
              <a:t>Conference/Poster # (if applicable)</a:t>
            </a:r>
          </a:p>
        </p:txBody>
      </p:sp>
    </p:spTree>
    <p:extLst>
      <p:ext uri="{BB962C8B-B14F-4D97-AF65-F5344CB8AC3E}">
        <p14:creationId xmlns:p14="http://schemas.microsoft.com/office/powerpoint/2010/main" val="1230767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nner">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FED068DC-A6B4-8546-9572-665003B1DEC6}"/>
              </a:ext>
            </a:extLst>
          </p:cNvPr>
          <p:cNvSpPr>
            <a:spLocks noGrp="1"/>
          </p:cNvSpPr>
          <p:nvPr>
            <p:ph type="body" sz="quarter" idx="12"/>
          </p:nvPr>
        </p:nvSpPr>
        <p:spPr>
          <a:xfrm>
            <a:off x="4114800" y="614200"/>
            <a:ext cx="13716000" cy="1243584"/>
          </a:xfrm>
          <a:prstGeom prst="rect">
            <a:avLst/>
          </a:prstGeom>
        </p:spPr>
        <p:txBody>
          <a:bodyPr lIns="91440" tIns="0" rIns="91440" bIns="91440" anchor="t" anchorCtr="0"/>
          <a:lstStyle>
            <a:lvl1pPr marL="0" indent="0" algn="ctr">
              <a:spcBef>
                <a:spcPts val="0"/>
              </a:spcBef>
              <a:buNone/>
              <a:defRPr sz="4000" b="1"/>
            </a:lvl1pPr>
            <a:lvl2pPr marL="457200" indent="0">
              <a:buNone/>
              <a:defRPr sz="4000" b="1"/>
            </a:lvl2pPr>
            <a:lvl3pPr marL="914400" indent="0">
              <a:buNone/>
              <a:defRPr sz="4000" b="1"/>
            </a:lvl3pPr>
            <a:lvl4pPr marL="1371600" indent="0">
              <a:buNone/>
              <a:defRPr sz="4000" b="1"/>
            </a:lvl4pPr>
            <a:lvl5pPr marL="1828800" indent="0">
              <a:buNone/>
              <a:defRPr sz="4000" b="1"/>
            </a:lvl5pPr>
          </a:lstStyle>
          <a:p>
            <a:pPr lvl="0">
              <a:buClrTx/>
              <a:buSzTx/>
            </a:pPr>
            <a:r>
              <a:rPr lang="en-US" altLang="en-US">
                <a:solidFill>
                  <a:schemeClr val="bg1"/>
                </a:solidFill>
              </a:rPr>
              <a:t>Click to edit Master text styles</a:t>
            </a:r>
          </a:p>
        </p:txBody>
      </p:sp>
      <p:sp>
        <p:nvSpPr>
          <p:cNvPr id="6" name="Text Placeholder 14">
            <a:extLst>
              <a:ext uri="{FF2B5EF4-FFF2-40B4-BE49-F238E27FC236}">
                <a16:creationId xmlns:a16="http://schemas.microsoft.com/office/drawing/2014/main" id="{F209687C-B39B-6946-A8A3-E2AC12A5D40B}"/>
              </a:ext>
            </a:extLst>
          </p:cNvPr>
          <p:cNvSpPr>
            <a:spLocks noGrp="1"/>
          </p:cNvSpPr>
          <p:nvPr>
            <p:ph type="body" sz="quarter" idx="10" hasCustomPrompt="1"/>
          </p:nvPr>
        </p:nvSpPr>
        <p:spPr>
          <a:xfrm>
            <a:off x="4114800" y="1868569"/>
            <a:ext cx="13716000" cy="777240"/>
          </a:xfrm>
          <a:prstGeom prst="rect">
            <a:avLst/>
          </a:prstGeom>
        </p:spPr>
        <p:txBody>
          <a:bodyPr lIns="91440" bIns="182880" anchor="t" anchorCtr="0"/>
          <a:lstStyle>
            <a:lvl1pPr marL="0" indent="0" algn="ctr">
              <a:lnSpc>
                <a:spcPct val="110000"/>
              </a:lnSpc>
              <a:spcBef>
                <a:spcPts val="0"/>
              </a:spcBef>
              <a:buNone/>
              <a:defRPr sz="1600" b="1">
                <a:solidFill>
                  <a:schemeClr val="bg1"/>
                </a:solidFill>
              </a:defRPr>
            </a:lvl1pPr>
          </a:lstStyle>
          <a:p>
            <a:pPr lvl="0"/>
            <a:r>
              <a:rPr lang="en-US"/>
              <a:t>Click to edit author/affiliation area</a:t>
            </a:r>
          </a:p>
        </p:txBody>
      </p:sp>
    </p:spTree>
    <p:extLst>
      <p:ext uri="{BB962C8B-B14F-4D97-AF65-F5344CB8AC3E}">
        <p14:creationId xmlns:p14="http://schemas.microsoft.com/office/powerpoint/2010/main" val="575805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Border">
    <p:bg>
      <p:bgPr>
        <a:solidFill>
          <a:schemeClr val="accent1"/>
        </a:solidFill>
        <a:effectLst/>
      </p:bgPr>
    </p:bg>
    <p:spTree>
      <p:nvGrpSpPr>
        <p:cNvPr id="1" name=""/>
        <p:cNvGrpSpPr/>
        <p:nvPr/>
      </p:nvGrpSpPr>
      <p:grpSpPr>
        <a:xfrm>
          <a:off x="0" y="0"/>
          <a:ext cx="0" cy="0"/>
          <a:chOff x="0" y="0"/>
          <a:chExt cx="0" cy="0"/>
        </a:xfrm>
      </p:grpSpPr>
      <p:sp>
        <p:nvSpPr>
          <p:cNvPr id="7" name="Text Placeholder 7">
            <a:extLst>
              <a:ext uri="{FF2B5EF4-FFF2-40B4-BE49-F238E27FC236}">
                <a16:creationId xmlns:a16="http://schemas.microsoft.com/office/drawing/2014/main" id="{FED068DC-A6B4-8546-9572-665003B1DEC6}"/>
              </a:ext>
            </a:extLst>
          </p:cNvPr>
          <p:cNvSpPr>
            <a:spLocks noGrp="1"/>
          </p:cNvSpPr>
          <p:nvPr>
            <p:ph type="body" sz="quarter" idx="12"/>
          </p:nvPr>
        </p:nvSpPr>
        <p:spPr>
          <a:xfrm>
            <a:off x="4114800" y="614200"/>
            <a:ext cx="13716000" cy="1243584"/>
          </a:xfrm>
          <a:prstGeom prst="rect">
            <a:avLst/>
          </a:prstGeom>
        </p:spPr>
        <p:txBody>
          <a:bodyPr lIns="91440" tIns="0" bIns="91440" anchor="t" anchorCtr="0"/>
          <a:lstStyle>
            <a:lvl1pPr marL="0" indent="0" algn="ctr">
              <a:spcBef>
                <a:spcPts val="0"/>
              </a:spcBef>
              <a:buNone/>
              <a:defRPr sz="4000" b="1">
                <a:solidFill>
                  <a:schemeClr val="bg1"/>
                </a:solidFill>
              </a:defRPr>
            </a:lvl1pPr>
            <a:lvl2pPr marL="457200" indent="0">
              <a:buNone/>
              <a:defRPr sz="4000" b="1"/>
            </a:lvl2pPr>
            <a:lvl3pPr marL="914400" indent="0">
              <a:buNone/>
              <a:defRPr sz="4000" b="1"/>
            </a:lvl3pPr>
            <a:lvl4pPr marL="1371600" indent="0">
              <a:buNone/>
              <a:defRPr sz="4000" b="1"/>
            </a:lvl4pPr>
            <a:lvl5pPr marL="1828800" indent="0">
              <a:buNone/>
              <a:defRPr sz="4000" b="1"/>
            </a:lvl5pPr>
          </a:lstStyle>
          <a:p>
            <a:pPr lvl="0">
              <a:buClrTx/>
              <a:buSzTx/>
            </a:pPr>
            <a:r>
              <a:rPr lang="en-US" altLang="en-US">
                <a:solidFill>
                  <a:schemeClr val="bg1"/>
                </a:solidFill>
              </a:rPr>
              <a:t>Click to edit Master text styles</a:t>
            </a:r>
          </a:p>
        </p:txBody>
      </p:sp>
      <p:sp>
        <p:nvSpPr>
          <p:cNvPr id="6" name="Text Placeholder 14">
            <a:extLst>
              <a:ext uri="{FF2B5EF4-FFF2-40B4-BE49-F238E27FC236}">
                <a16:creationId xmlns:a16="http://schemas.microsoft.com/office/drawing/2014/main" id="{F209687C-B39B-6946-A8A3-E2AC12A5D40B}"/>
              </a:ext>
            </a:extLst>
          </p:cNvPr>
          <p:cNvSpPr>
            <a:spLocks noGrp="1"/>
          </p:cNvSpPr>
          <p:nvPr>
            <p:ph type="body" sz="quarter" idx="10" hasCustomPrompt="1"/>
          </p:nvPr>
        </p:nvSpPr>
        <p:spPr>
          <a:xfrm>
            <a:off x="4114800" y="1868569"/>
            <a:ext cx="13716000" cy="782711"/>
          </a:xfrm>
          <a:prstGeom prst="rect">
            <a:avLst/>
          </a:prstGeom>
        </p:spPr>
        <p:txBody>
          <a:bodyPr lIns="91440" bIns="182880" anchor="t" anchorCtr="0"/>
          <a:lstStyle>
            <a:lvl1pPr marL="0" indent="0" algn="ctr">
              <a:lnSpc>
                <a:spcPct val="110000"/>
              </a:lnSpc>
              <a:spcBef>
                <a:spcPts val="0"/>
              </a:spcBef>
              <a:buNone/>
              <a:defRPr sz="1600" b="1">
                <a:solidFill>
                  <a:schemeClr val="bg1"/>
                </a:solidFill>
              </a:defRPr>
            </a:lvl1pPr>
          </a:lstStyle>
          <a:p>
            <a:pPr lvl="0"/>
            <a:r>
              <a:rPr lang="en-US"/>
              <a:t>Click to edit author/affiliation area</a:t>
            </a:r>
          </a:p>
        </p:txBody>
      </p:sp>
      <p:sp>
        <p:nvSpPr>
          <p:cNvPr id="4" name="Rectangle 3">
            <a:extLst>
              <a:ext uri="{FF2B5EF4-FFF2-40B4-BE49-F238E27FC236}">
                <a16:creationId xmlns:a16="http://schemas.microsoft.com/office/drawing/2014/main" id="{9096818D-E71B-4ABC-8391-4AF934085280}"/>
              </a:ext>
            </a:extLst>
          </p:cNvPr>
          <p:cNvSpPr/>
          <p:nvPr userDrawn="1"/>
        </p:nvSpPr>
        <p:spPr>
          <a:xfrm>
            <a:off x="685800" y="2670048"/>
            <a:ext cx="20574000" cy="1263700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Box 544">
            <a:extLst>
              <a:ext uri="{FF2B5EF4-FFF2-40B4-BE49-F238E27FC236}">
                <a16:creationId xmlns:a16="http://schemas.microsoft.com/office/drawing/2014/main" id="{DFD7B0D5-5741-45E8-9E58-54DA9D29C9C8}"/>
              </a:ext>
            </a:extLst>
          </p:cNvPr>
          <p:cNvSpPr txBox="1">
            <a:spLocks noChangeArrowheads="1"/>
          </p:cNvSpPr>
          <p:nvPr userDrawn="1"/>
        </p:nvSpPr>
        <p:spPr bwMode="auto">
          <a:xfrm>
            <a:off x="685800"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spcBef>
                <a:spcPts val="0"/>
              </a:spcBef>
            </a:pPr>
            <a:r>
              <a:rPr lang="en-US" sz="800" b="1">
                <a:solidFill>
                  <a:schemeClr val="bg1"/>
                </a:solidFill>
                <a:sym typeface="Symbol" pitchFamily="18" charset="2"/>
              </a:rPr>
              <a:t>©</a:t>
            </a:r>
            <a:fld id="{5884FAFD-40E6-443D-AD8B-BFF8B0AE239F}" type="datetimeyyyy">
              <a:rPr lang="en-US" sz="800" b="1" smtClean="0">
                <a:solidFill>
                  <a:schemeClr val="bg1"/>
                </a:solidFill>
                <a:sym typeface="Symbol" pitchFamily="18" charset="2"/>
              </a:rPr>
              <a:t>2025</a:t>
            </a:fld>
            <a:r>
              <a:rPr lang="en-US" sz="800" b="1">
                <a:solidFill>
                  <a:schemeClr val="bg1"/>
                </a:solidFill>
                <a:sym typeface="Symbol" pitchFamily="18" charset="2"/>
              </a:rPr>
              <a:t> Mayo Foundation for Medical Education and Research</a:t>
            </a:r>
          </a:p>
        </p:txBody>
      </p:sp>
      <p:pic>
        <p:nvPicPr>
          <p:cNvPr id="2" name="Picture 1">
            <a:extLst>
              <a:ext uri="{FF2B5EF4-FFF2-40B4-BE49-F238E27FC236}">
                <a16:creationId xmlns:a16="http://schemas.microsoft.com/office/drawing/2014/main" id="{E4C9EC22-978A-C1E3-5F24-3F95EE506018}"/>
              </a:ext>
            </a:extLst>
          </p:cNvPr>
          <p:cNvPicPr>
            <a:picLocks noChangeAspect="1"/>
          </p:cNvPicPr>
          <p:nvPr userDrawn="1"/>
        </p:nvPicPr>
        <p:blipFill>
          <a:blip r:embed="rId2"/>
          <a:stretch>
            <a:fillRect/>
          </a:stretch>
        </p:blipFill>
        <p:spPr>
          <a:xfrm>
            <a:off x="488950" y="627101"/>
            <a:ext cx="1298448" cy="1559029"/>
          </a:xfrm>
          <a:prstGeom prst="rect">
            <a:avLst/>
          </a:prstGeom>
          <a:ln>
            <a:noFill/>
          </a:ln>
        </p:spPr>
      </p:pic>
    </p:spTree>
    <p:extLst>
      <p:ext uri="{BB962C8B-B14F-4D97-AF65-F5344CB8AC3E}">
        <p14:creationId xmlns:p14="http://schemas.microsoft.com/office/powerpoint/2010/main" val="3803084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Better Poster (QR co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C1F5D6-F79C-4F2F-922A-309A10AED67C}"/>
              </a:ext>
            </a:extLst>
          </p:cNvPr>
          <p:cNvSpPr/>
          <p:nvPr userDrawn="1"/>
        </p:nvSpPr>
        <p:spPr>
          <a:xfrm>
            <a:off x="0" y="0"/>
            <a:ext cx="10972800" cy="1600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5" name="Text Box 544">
            <a:extLst>
              <a:ext uri="{FF2B5EF4-FFF2-40B4-BE49-F238E27FC236}">
                <a16:creationId xmlns:a16="http://schemas.microsoft.com/office/drawing/2014/main" id="{BEB081AD-FFDC-4CE4-B614-DDEB09645014}"/>
              </a:ext>
            </a:extLst>
          </p:cNvPr>
          <p:cNvSpPr txBox="1">
            <a:spLocks noChangeArrowheads="1"/>
          </p:cNvSpPr>
          <p:nvPr userDrawn="1"/>
        </p:nvSpPr>
        <p:spPr bwMode="auto">
          <a:xfrm>
            <a:off x="1113617"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pPr>
            <a:r>
              <a:rPr lang="en-US" sz="800" b="1">
                <a:solidFill>
                  <a:schemeClr val="bg1"/>
                </a:solidFill>
                <a:sym typeface="Symbol" pitchFamily="18" charset="2"/>
              </a:rPr>
              <a:t>©</a:t>
            </a:r>
            <a:fld id="{0632188B-9737-4C9B-9485-189704D481BA}" type="datetimeyyyy">
              <a:rPr lang="en-US" sz="800" b="1" smtClean="0">
                <a:solidFill>
                  <a:schemeClr val="bg1"/>
                </a:solidFill>
                <a:sym typeface="Symbol" pitchFamily="18" charset="2"/>
              </a:rPr>
              <a:t>2025</a:t>
            </a:fld>
            <a:r>
              <a:rPr lang="en-US" sz="800" b="1">
                <a:solidFill>
                  <a:schemeClr val="bg1"/>
                </a:solidFill>
                <a:sym typeface="Symbol" pitchFamily="18" charset="2"/>
              </a:rPr>
              <a:t> Mayo Foundation for Medical Education and Research</a:t>
            </a:r>
          </a:p>
        </p:txBody>
      </p:sp>
      <p:sp>
        <p:nvSpPr>
          <p:cNvPr id="14" name="Text Placeholder 13">
            <a:extLst>
              <a:ext uri="{FF2B5EF4-FFF2-40B4-BE49-F238E27FC236}">
                <a16:creationId xmlns:a16="http://schemas.microsoft.com/office/drawing/2014/main" id="{3AC658AE-0B56-42FB-AA50-4B22B520DBDF}"/>
              </a:ext>
            </a:extLst>
          </p:cNvPr>
          <p:cNvSpPr>
            <a:spLocks noGrp="1"/>
          </p:cNvSpPr>
          <p:nvPr>
            <p:ph type="body" sz="quarter" idx="10" hasCustomPrompt="1"/>
          </p:nvPr>
        </p:nvSpPr>
        <p:spPr>
          <a:xfrm>
            <a:off x="1104900" y="5200650"/>
            <a:ext cx="9319260" cy="5632311"/>
          </a:xfrm>
          <a:prstGeom prst="rect">
            <a:avLst/>
          </a:prstGeom>
        </p:spPr>
        <p:txBody>
          <a:bodyPr lIns="0" tIns="45720" bIns="45720">
            <a:noAutofit/>
          </a:bodyPr>
          <a:lstStyle>
            <a:lvl1pPr marL="0" indent="0">
              <a:buNone/>
              <a:defRPr sz="15000" b="1">
                <a:solidFill>
                  <a:schemeClr val="bg1"/>
                </a:solidFill>
              </a:defRPr>
            </a:lvl1pPr>
            <a:lvl2pPr marL="457200" indent="0">
              <a:buNone/>
              <a:defRPr/>
            </a:lvl2pPr>
          </a:lstStyle>
          <a:p>
            <a:pPr lvl="0"/>
            <a:r>
              <a:rPr lang="en-US"/>
              <a:t>Click to edit text</a:t>
            </a:r>
          </a:p>
        </p:txBody>
      </p:sp>
      <p:sp>
        <p:nvSpPr>
          <p:cNvPr id="15" name="Text Placeholder 13">
            <a:extLst>
              <a:ext uri="{FF2B5EF4-FFF2-40B4-BE49-F238E27FC236}">
                <a16:creationId xmlns:a16="http://schemas.microsoft.com/office/drawing/2014/main" id="{6FCD4A33-1EE2-4516-8301-469658E75C49}"/>
              </a:ext>
            </a:extLst>
          </p:cNvPr>
          <p:cNvSpPr>
            <a:spLocks noGrp="1"/>
          </p:cNvSpPr>
          <p:nvPr>
            <p:ph type="body" sz="quarter" idx="11" hasCustomPrompt="1"/>
          </p:nvPr>
        </p:nvSpPr>
        <p:spPr>
          <a:xfrm>
            <a:off x="1104900" y="11982450"/>
            <a:ext cx="9319260" cy="3143250"/>
          </a:xfrm>
          <a:prstGeom prst="rect">
            <a:avLst/>
          </a:prstGeom>
        </p:spPr>
        <p:txBody>
          <a:bodyPr lIns="0" tIns="45720" bIns="45720">
            <a:noAutofit/>
          </a:bodyPr>
          <a:lstStyle>
            <a:lvl1pPr marL="0" indent="0">
              <a:buNone/>
              <a:defRPr sz="7500" b="1">
                <a:solidFill>
                  <a:schemeClr val="bg1"/>
                </a:solidFill>
              </a:defRPr>
            </a:lvl1pPr>
            <a:lvl2pPr marL="457200" indent="0">
              <a:buNone/>
              <a:defRPr/>
            </a:lvl2pPr>
          </a:lstStyle>
          <a:p>
            <a:pPr lvl="0"/>
            <a:r>
              <a:rPr lang="en-US"/>
              <a:t>Click to edit text</a:t>
            </a:r>
          </a:p>
        </p:txBody>
      </p:sp>
      <p:sp>
        <p:nvSpPr>
          <p:cNvPr id="7" name="Text Placeholder 10">
            <a:extLst>
              <a:ext uri="{FF2B5EF4-FFF2-40B4-BE49-F238E27FC236}">
                <a16:creationId xmlns:a16="http://schemas.microsoft.com/office/drawing/2014/main" id="{C31CF255-C3D6-6B86-B33B-6708952B0F16}"/>
              </a:ext>
            </a:extLst>
          </p:cNvPr>
          <p:cNvSpPr>
            <a:spLocks noGrp="1"/>
          </p:cNvSpPr>
          <p:nvPr>
            <p:ph type="body" sz="quarter" idx="13" hasCustomPrompt="1"/>
          </p:nvPr>
        </p:nvSpPr>
        <p:spPr>
          <a:xfrm>
            <a:off x="11521440" y="2382520"/>
            <a:ext cx="9372600" cy="777240"/>
          </a:xfrm>
          <a:prstGeom prst="rect">
            <a:avLst/>
          </a:prstGeom>
          <a:ln>
            <a:noFill/>
          </a:ln>
        </p:spPr>
        <p:txBody>
          <a:bodyPr lIns="137160" rIns="137160" bIns="182880"/>
          <a:lstStyle>
            <a:lvl1pPr marL="0" indent="0">
              <a:lnSpc>
                <a:spcPct val="110000"/>
              </a:lnSpc>
              <a:spcBef>
                <a:spcPts val="0"/>
              </a:spcBef>
              <a:buNone/>
              <a:defRPr sz="1800" b="1">
                <a:solidFill>
                  <a:schemeClr val="tx1"/>
                </a:solidFill>
              </a:defRPr>
            </a:lvl1pPr>
          </a:lstStyle>
          <a:p>
            <a:pPr lvl="0"/>
            <a:r>
              <a:rPr lang="en-US"/>
              <a:t>Click to edit author/affiliation area</a:t>
            </a:r>
          </a:p>
        </p:txBody>
      </p:sp>
      <p:sp>
        <p:nvSpPr>
          <p:cNvPr id="9" name="Text Placeholder 6">
            <a:extLst>
              <a:ext uri="{FF2B5EF4-FFF2-40B4-BE49-F238E27FC236}">
                <a16:creationId xmlns:a16="http://schemas.microsoft.com/office/drawing/2014/main" id="{A52B86C6-9EE7-7DF8-D875-4105129BD44B}"/>
              </a:ext>
            </a:extLst>
          </p:cNvPr>
          <p:cNvSpPr>
            <a:spLocks noGrp="1"/>
          </p:cNvSpPr>
          <p:nvPr>
            <p:ph type="body" sz="quarter" idx="14" hasCustomPrompt="1"/>
          </p:nvPr>
        </p:nvSpPr>
        <p:spPr>
          <a:xfrm>
            <a:off x="11521440" y="1076960"/>
            <a:ext cx="9372600" cy="1280160"/>
          </a:xfrm>
          <a:prstGeom prst="rect">
            <a:avLst/>
          </a:prstGeom>
        </p:spPr>
        <p:txBody>
          <a:bodyPr lIns="137160" tIns="0" rIns="137160" bIns="91440"/>
          <a:lstStyle>
            <a:lvl1pPr marL="0" indent="0">
              <a:lnSpc>
                <a:spcPct val="90000"/>
              </a:lnSpc>
              <a:buNone/>
              <a:defRPr sz="4000" b="1">
                <a:solidFill>
                  <a:schemeClr val="tx1"/>
                </a:solidFill>
              </a:defRPr>
            </a:lvl1pPr>
          </a:lstStyle>
          <a:p>
            <a:pPr lvl="0"/>
            <a:r>
              <a:rPr lang="en-US"/>
              <a:t>Poster Title Goes Here Poster Title Goes Here Poster Title Goes Here</a:t>
            </a:r>
          </a:p>
        </p:txBody>
      </p:sp>
      <p:pic>
        <p:nvPicPr>
          <p:cNvPr id="3" name="Picture 2">
            <a:extLst>
              <a:ext uri="{FF2B5EF4-FFF2-40B4-BE49-F238E27FC236}">
                <a16:creationId xmlns:a16="http://schemas.microsoft.com/office/drawing/2014/main" id="{87B5B601-CBA8-B4E6-FDF0-FFFA1AB48DEC}"/>
              </a:ext>
            </a:extLst>
          </p:cNvPr>
          <p:cNvPicPr>
            <a:picLocks noChangeAspect="1"/>
          </p:cNvPicPr>
          <p:nvPr userDrawn="1"/>
        </p:nvPicPr>
        <p:blipFill>
          <a:blip r:embed="rId2"/>
          <a:stretch>
            <a:fillRect/>
          </a:stretch>
        </p:blipFill>
        <p:spPr>
          <a:xfrm>
            <a:off x="1113617" y="1160206"/>
            <a:ext cx="2350008" cy="2821623"/>
          </a:xfrm>
          <a:prstGeom prst="rect">
            <a:avLst/>
          </a:prstGeom>
          <a:ln>
            <a:noFill/>
          </a:ln>
        </p:spPr>
      </p:pic>
    </p:spTree>
    <p:extLst>
      <p:ext uri="{BB962C8B-B14F-4D97-AF65-F5344CB8AC3E}">
        <p14:creationId xmlns:p14="http://schemas.microsoft.com/office/powerpoint/2010/main" val="238123301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9E8C6D8-93F2-DA43-B816-B2A8671E230A}"/>
              </a:ext>
            </a:extLst>
          </p:cNvPr>
          <p:cNvSpPr/>
          <p:nvPr userDrawn="1"/>
        </p:nvSpPr>
        <p:spPr bwMode="auto">
          <a:xfrm>
            <a:off x="-2" y="0"/>
            <a:ext cx="21945601" cy="2673207"/>
          </a:xfrm>
          <a:prstGeom prst="rect">
            <a:avLst/>
          </a:prstGeom>
          <a:solidFill>
            <a:schemeClr val="accent1"/>
          </a:solidFill>
          <a:ln>
            <a:noFill/>
          </a:ln>
          <a:effectLst/>
        </p:spPr>
        <p:txBody>
          <a:bodyPr vert="horz" wrap="square" lIns="0" tIns="137160" rIns="0" bIns="137160" numCol="1" rtlCol="0" anchor="t" anchorCtr="0" compatLnSpc="1">
            <a:prstTxWarp prst="textNoShape">
              <a:avLst/>
            </a:prstTxWarp>
            <a:noAutofit/>
          </a:bodyPr>
          <a:lstStyle/>
          <a:p>
            <a:pPr marL="0" marR="0" indent="0" algn="ctr" defTabSz="3370263" rtl="0" eaLnBrk="1" fontAlgn="base" latinLnBrk="0" hangingPunct="1">
              <a:lnSpc>
                <a:spcPct val="100000"/>
              </a:lnSpc>
              <a:spcBef>
                <a:spcPct val="20000"/>
              </a:spcBef>
              <a:spcAft>
                <a:spcPct val="0"/>
              </a:spcAft>
              <a:buClr>
                <a:schemeClr val="folHlink"/>
              </a:buClr>
              <a:buSzPct val="120000"/>
              <a:buFontTx/>
              <a:buNone/>
              <a:tabLst/>
            </a:pPr>
            <a:endParaRPr kumimoji="0" lang="en-US" sz="2200" b="0" i="0" u="none" strike="noStrike" cap="none" normalizeH="0" baseline="0">
              <a:ln>
                <a:noFill/>
              </a:ln>
              <a:solidFill>
                <a:schemeClr val="tx2"/>
              </a:solidFill>
              <a:effectLst/>
              <a:latin typeface="Arial" charset="0"/>
              <a:ea typeface="Times New Roman" pitchFamily="18" charset="0"/>
              <a:cs typeface="Calibri" pitchFamily="34" charset="0"/>
            </a:endParaRPr>
          </a:p>
        </p:txBody>
      </p:sp>
      <p:sp>
        <p:nvSpPr>
          <p:cNvPr id="13" name="Text Box 544">
            <a:extLst>
              <a:ext uri="{FF2B5EF4-FFF2-40B4-BE49-F238E27FC236}">
                <a16:creationId xmlns:a16="http://schemas.microsoft.com/office/drawing/2014/main" id="{C84F1D9A-D4DE-0F42-9034-90C8293542CC}"/>
              </a:ext>
            </a:extLst>
          </p:cNvPr>
          <p:cNvSpPr txBox="1">
            <a:spLocks noChangeArrowheads="1"/>
          </p:cNvSpPr>
          <p:nvPr userDrawn="1"/>
        </p:nvSpPr>
        <p:spPr bwMode="auto">
          <a:xfrm>
            <a:off x="480483" y="15384804"/>
            <a:ext cx="3648449" cy="2360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noAutofit/>
          </a:bodyPr>
          <a:lstStyle>
            <a:lvl1pPr defTabSz="3370263">
              <a:defRPr>
                <a:solidFill>
                  <a:schemeClr val="tx1"/>
                </a:solidFill>
                <a:latin typeface="Arial" charset="0"/>
                <a:cs typeface="Arial" charset="0"/>
              </a:defRPr>
            </a:lvl1pPr>
            <a:lvl2pPr defTabSz="3370263">
              <a:defRPr>
                <a:solidFill>
                  <a:schemeClr val="tx1"/>
                </a:solidFill>
                <a:latin typeface="Arial" charset="0"/>
                <a:cs typeface="Arial" charset="0"/>
              </a:defRPr>
            </a:lvl2pPr>
            <a:lvl3pPr defTabSz="3370263">
              <a:defRPr>
                <a:solidFill>
                  <a:schemeClr val="tx1"/>
                </a:solidFill>
                <a:latin typeface="Arial" charset="0"/>
                <a:cs typeface="Arial" charset="0"/>
              </a:defRPr>
            </a:lvl3pPr>
            <a:lvl4pPr defTabSz="3370263">
              <a:defRPr>
                <a:solidFill>
                  <a:schemeClr val="tx1"/>
                </a:solidFill>
                <a:latin typeface="Arial" charset="0"/>
                <a:cs typeface="Arial" charset="0"/>
              </a:defRPr>
            </a:lvl4pPr>
            <a:lvl5pPr defTabSz="3370263">
              <a:defRPr>
                <a:solidFill>
                  <a:schemeClr val="tx1"/>
                </a:solidFill>
                <a:latin typeface="Arial" charset="0"/>
                <a:cs typeface="Arial" charset="0"/>
              </a:defRPr>
            </a:lvl5pPr>
            <a:lvl6pPr defTabSz="3370263" fontAlgn="base">
              <a:spcBef>
                <a:spcPct val="0"/>
              </a:spcBef>
              <a:spcAft>
                <a:spcPct val="0"/>
              </a:spcAft>
              <a:defRPr>
                <a:solidFill>
                  <a:schemeClr val="tx1"/>
                </a:solidFill>
                <a:latin typeface="Arial" charset="0"/>
                <a:cs typeface="Arial" charset="0"/>
              </a:defRPr>
            </a:lvl6pPr>
            <a:lvl7pPr defTabSz="3370263" fontAlgn="base">
              <a:spcBef>
                <a:spcPct val="0"/>
              </a:spcBef>
              <a:spcAft>
                <a:spcPct val="0"/>
              </a:spcAft>
              <a:defRPr>
                <a:solidFill>
                  <a:schemeClr val="tx1"/>
                </a:solidFill>
                <a:latin typeface="Arial" charset="0"/>
                <a:cs typeface="Arial" charset="0"/>
              </a:defRPr>
            </a:lvl7pPr>
            <a:lvl8pPr defTabSz="3370263" fontAlgn="base">
              <a:spcBef>
                <a:spcPct val="0"/>
              </a:spcBef>
              <a:spcAft>
                <a:spcPct val="0"/>
              </a:spcAft>
              <a:defRPr>
                <a:solidFill>
                  <a:schemeClr val="tx1"/>
                </a:solidFill>
                <a:latin typeface="Arial" charset="0"/>
                <a:cs typeface="Arial" charset="0"/>
              </a:defRPr>
            </a:lvl8pPr>
            <a:lvl9pPr defTabSz="3370263" fontAlgn="base">
              <a:spcBef>
                <a:spcPct val="0"/>
              </a:spcBef>
              <a:spcAft>
                <a:spcPct val="0"/>
              </a:spcAft>
              <a:defRPr>
                <a:solidFill>
                  <a:schemeClr val="tx1"/>
                </a:solidFill>
                <a:latin typeface="Arial" charset="0"/>
                <a:cs typeface="Arial" charset="0"/>
              </a:defRPr>
            </a:lvl9pPr>
          </a:lstStyle>
          <a:p>
            <a:pPr algn="l">
              <a:lnSpc>
                <a:spcPct val="90000"/>
              </a:lnSpc>
              <a:spcBef>
                <a:spcPts val="0"/>
              </a:spcBef>
            </a:pPr>
            <a:r>
              <a:rPr lang="en-US" sz="800" b="1">
                <a:sym typeface="Symbol" pitchFamily="18" charset="2"/>
              </a:rPr>
              <a:t>©</a:t>
            </a:r>
            <a:fld id="{5884FAFD-40E6-443D-AD8B-BFF8B0AE239F}" type="datetimeyyyy">
              <a:rPr lang="en-US" sz="800" b="1" smtClean="0">
                <a:sym typeface="Symbol" pitchFamily="18" charset="2"/>
              </a:rPr>
              <a:t>2025</a:t>
            </a:fld>
            <a:r>
              <a:rPr lang="en-US" sz="800" b="1">
                <a:sym typeface="Symbol" pitchFamily="18" charset="2"/>
              </a:rPr>
              <a:t> Mayo Foundation for Medical Education and Research</a:t>
            </a:r>
          </a:p>
        </p:txBody>
      </p:sp>
      <p:pic>
        <p:nvPicPr>
          <p:cNvPr id="3" name="Picture 2">
            <a:extLst>
              <a:ext uri="{FF2B5EF4-FFF2-40B4-BE49-F238E27FC236}">
                <a16:creationId xmlns:a16="http://schemas.microsoft.com/office/drawing/2014/main" id="{FABCF282-9715-E64E-F488-E78E2622090D}"/>
              </a:ext>
            </a:extLst>
          </p:cNvPr>
          <p:cNvPicPr>
            <a:picLocks noChangeAspect="1"/>
          </p:cNvPicPr>
          <p:nvPr userDrawn="1"/>
        </p:nvPicPr>
        <p:blipFill>
          <a:blip r:embed="rId6"/>
          <a:stretch>
            <a:fillRect/>
          </a:stretch>
        </p:blipFill>
        <p:spPr>
          <a:xfrm>
            <a:off x="488950" y="627101"/>
            <a:ext cx="1298448" cy="1559029"/>
          </a:xfrm>
          <a:prstGeom prst="rect">
            <a:avLst/>
          </a:prstGeom>
          <a:ln>
            <a:noFill/>
          </a:ln>
        </p:spPr>
      </p:pic>
    </p:spTree>
    <p:extLst>
      <p:ext uri="{BB962C8B-B14F-4D97-AF65-F5344CB8AC3E}">
        <p14:creationId xmlns:p14="http://schemas.microsoft.com/office/powerpoint/2010/main" val="4273207950"/>
      </p:ext>
    </p:extLst>
  </p:cSld>
  <p:clrMap bg1="dk1" tx1="lt1" bg2="dk2" tx2="lt2" accent1="accent1" accent2="accent2" accent3="accent3" accent4="accent4" accent5="accent5" accent6="accent6" hlink="hlink" folHlink="folHlink"/>
  <p:sldLayoutIdLst>
    <p:sldLayoutId id="2147483659" r:id="rId1"/>
    <p:sldLayoutId id="2147483660" r:id="rId2"/>
    <p:sldLayoutId id="2147483658" r:id="rId3"/>
    <p:sldLayoutId id="2147483661"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00" userDrawn="1">
          <p15:clr>
            <a:srgbClr val="F26B43"/>
          </p15:clr>
        </p15:guide>
        <p15:guide id="4" pos="13518" userDrawn="1">
          <p15:clr>
            <a:srgbClr val="F26B43"/>
          </p15:clr>
        </p15:guide>
        <p15:guide id="6" orient="horz" pos="9776" userDrawn="1">
          <p15:clr>
            <a:srgbClr val="F26B43"/>
          </p15:clr>
        </p15:guide>
        <p15:guide id="15" orient="horz" pos="38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ustomXml" Target="../../customXml/item2.xml"/><Relationship Id="rId1" Type="http://schemas.openxmlformats.org/officeDocument/2006/relationships/customXml" Target="../../customXml/item5.xml"/><Relationship Id="rId6" Type="http://schemas.openxmlformats.org/officeDocument/2006/relationships/chart" Target="../charts/chart2.xml"/><Relationship Id="rId5" Type="http://schemas.openxmlformats.org/officeDocument/2006/relationships/chart" Target="../charts/chart1.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31" name="Text Box 519"/>
          <p:cNvSpPr txBox="1">
            <a:spLocks noChangeArrowheads="1"/>
          </p:cNvSpPr>
          <p:nvPr/>
        </p:nvSpPr>
        <p:spPr bwMode="auto">
          <a:xfrm>
            <a:off x="16495776" y="3733635"/>
            <a:ext cx="4983480" cy="7258431"/>
          </a:xfrm>
          <a:prstGeom prst="rect">
            <a:avLst/>
          </a:prstGeom>
          <a:noFill/>
          <a:ln>
            <a:noFill/>
          </a:ln>
          <a:effectLst/>
        </p:spPr>
        <p:txBody>
          <a:bodyPr wrap="square" lIns="137160" tIns="91440" rIns="91440" bIns="137160">
            <a:noAutofit/>
          </a:bodyPr>
          <a:lstStyle>
            <a:lvl1pPr marL="114300" indent="-114300" algn="l" defTabSz="457200">
              <a:spcBef>
                <a:spcPct val="0"/>
              </a:spcBef>
              <a:defRPr>
                <a:solidFill>
                  <a:schemeClr val="tx1"/>
                </a:solidFill>
                <a:latin typeface="Arial" charset="0"/>
                <a:cs typeface="Arial" charset="0"/>
              </a:defRPr>
            </a:lvl1pPr>
            <a:lvl2pPr marL="2286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indent="0" defTabSz="914400">
              <a:spcBef>
                <a:spcPts val="0"/>
              </a:spcBef>
              <a:spcAft>
                <a:spcPts val="0"/>
              </a:spcAft>
              <a:buSzPts val="1000"/>
              <a:tabLst>
                <a:tab pos="457200" algn="l"/>
              </a:tabLst>
            </a:pPr>
            <a:r>
              <a:rPr lang="en-US" altLang="ja-JP" sz="1400" b="1" cap="all" dirty="0">
                <a:solidFill>
                  <a:schemeClr val="tx2"/>
                </a:solidFill>
                <a:ea typeface="MS PGothic" pitchFamily="34" charset="-128"/>
              </a:rPr>
              <a:t>Lessons learned</a:t>
            </a:r>
            <a:br>
              <a:rPr lang="en-US" altLang="ja-JP" sz="1400" b="1" i="1" dirty="0">
                <a:solidFill>
                  <a:srgbClr val="000000"/>
                </a:solidFill>
                <a:ea typeface="MS PGothic" pitchFamily="34" charset="-128"/>
              </a:rPr>
            </a:br>
            <a:r>
              <a:rPr lang="en-US" altLang="ja-JP" sz="1400" dirty="0">
                <a:solidFill>
                  <a:srgbClr val="000000"/>
                </a:solidFill>
                <a:latin typeface="Arial" panose="020B0604020202020204"/>
              </a:rPr>
              <a:t>The integration of AI into EHR workflows highlighted the importance of aligning technology with clinical reasoning. Key lessons included the value of explainability in AI outputs for clinician trust, the need for iterative feedback loops during implementation, and the effectiveness of pragmatic trial designs in real-world quality improvement.</a:t>
            </a:r>
          </a:p>
          <a:p>
            <a:pPr marL="0" indent="0" defTabSz="914400">
              <a:spcBef>
                <a:spcPts val="600"/>
              </a:spcBef>
              <a:spcAft>
                <a:spcPts val="0"/>
              </a:spcAft>
              <a:buSzPts val="1000"/>
              <a:tabLst>
                <a:tab pos="457200" algn="l"/>
              </a:tabLst>
            </a:pPr>
            <a:r>
              <a:rPr lang="en-US" altLang="ja-JP" sz="1400" b="1" cap="all" dirty="0">
                <a:solidFill>
                  <a:schemeClr val="tx2"/>
                </a:solidFill>
                <a:ea typeface="MS PGothic" pitchFamily="34" charset="-128"/>
              </a:rPr>
              <a:t>communication</a:t>
            </a:r>
            <a:br>
              <a:rPr lang="en-US" altLang="ja-JP" sz="1400" b="1" i="1" dirty="0">
                <a:ea typeface="MS PGothic" pitchFamily="34" charset="-128"/>
              </a:rPr>
            </a:br>
            <a:r>
              <a:rPr lang="en-US" altLang="ja-JP" sz="1400" dirty="0"/>
              <a:t>A communication package will be developed comprising: (1) a summary of AI-EHR intervention logic and implementation steps, (2) quantitative and qualitative results visualized via dashboards, and (3) a lessons-learned digest highlighting methodological insights. These materials will be tailored for stakeholders in clinical operations, IT, and quality improvement to support future adoption and scale-up planning.</a:t>
            </a:r>
          </a:p>
          <a:p>
            <a:pPr marL="0" indent="0" defTabSz="914400">
              <a:spcBef>
                <a:spcPts val="600"/>
              </a:spcBef>
              <a:spcAft>
                <a:spcPts val="0"/>
              </a:spcAft>
              <a:buSzPts val="1000"/>
              <a:tabLst>
                <a:tab pos="457200" algn="l"/>
              </a:tabLst>
            </a:pPr>
            <a:r>
              <a:rPr lang="en-US" altLang="ja-JP" sz="1400" b="1" cap="all" dirty="0">
                <a:solidFill>
                  <a:schemeClr val="tx2"/>
                </a:solidFill>
                <a:ea typeface="MS PGothic" pitchFamily="34" charset="-128"/>
              </a:rPr>
              <a:t>Hand-off plan</a:t>
            </a:r>
            <a:br>
              <a:rPr lang="en-US" altLang="ja-JP" sz="1400" b="1" i="1" dirty="0">
                <a:ea typeface="MS PGothic" pitchFamily="34" charset="-128"/>
              </a:rPr>
            </a:br>
            <a:r>
              <a:rPr lang="en-US" altLang="ja-JP" sz="1400" dirty="0">
                <a:ea typeface="MS PGothic" pitchFamily="34" charset="-128"/>
              </a:rPr>
              <a:t>Following validation, the AI-EHR intervention will be operationalized through a structured hand-off to the clinical informatics and IT operations teams. This will include deployment documentation, integration protocols, and a training toolkit for end users. A transition checklist and phased support model will ensure continuity and minimize disruption during scale-up.</a:t>
            </a:r>
          </a:p>
          <a:p>
            <a:pPr marL="0" indent="0" defTabSz="914400">
              <a:spcBef>
                <a:spcPts val="600"/>
              </a:spcBef>
              <a:spcAft>
                <a:spcPts val="0"/>
              </a:spcAft>
              <a:buSzPts val="1000"/>
              <a:tabLst>
                <a:tab pos="457200" algn="l"/>
              </a:tabLst>
            </a:pPr>
            <a:r>
              <a:rPr lang="en-US" altLang="ja-JP" sz="1400" b="1" cap="all" dirty="0">
                <a:solidFill>
                  <a:schemeClr val="tx2"/>
                </a:solidFill>
                <a:ea typeface="MS PGothic" pitchFamily="34" charset="-128"/>
              </a:rPr>
              <a:t>Monitoring plan</a:t>
            </a:r>
            <a:br>
              <a:rPr lang="en-US" altLang="ja-JP" sz="1400" b="1" i="1" dirty="0">
                <a:ea typeface="MS PGothic" pitchFamily="34" charset="-128"/>
              </a:rPr>
            </a:br>
            <a:r>
              <a:rPr lang="en-US" altLang="ja-JP" sz="1400" dirty="0">
                <a:ea typeface="MS PGothic" pitchFamily="34" charset="-128"/>
              </a:rPr>
              <a:t>A post-implementation monitoring framework will track diagnostic timeliness, adherence to PCOS care pathways, and clinician engagement metrics. Dashboards will be configured for real-time analytics, with quarterly reviews to assess performance trends and guide iterative refinements. Feedback loops will be established to support long-term sustainability and optimization.</a:t>
            </a:r>
            <a:endParaRPr lang="en-US" sz="1400" dirty="0"/>
          </a:p>
        </p:txBody>
      </p:sp>
      <p:sp>
        <p:nvSpPr>
          <p:cNvPr id="13834" name="Text Box 522"/>
          <p:cNvSpPr txBox="1">
            <a:spLocks noChangeArrowheads="1"/>
          </p:cNvSpPr>
          <p:nvPr/>
        </p:nvSpPr>
        <p:spPr bwMode="auto">
          <a:xfrm>
            <a:off x="16536763" y="11713530"/>
            <a:ext cx="4983480" cy="869594"/>
          </a:xfrm>
          <a:prstGeom prst="rect">
            <a:avLst/>
          </a:prstGeom>
          <a:noFill/>
          <a:ln>
            <a:noFill/>
          </a:ln>
          <a:effectLst/>
        </p:spPr>
        <p:txBody>
          <a:bodyPr wrap="square" lIns="137160" tIns="91440" rIns="91440" bIns="137160">
            <a:noAutofit/>
          </a:bodyPr>
          <a:lstStyle>
            <a:lvl1pPr marL="114300" indent="-114300" algn="l" defTabSz="457200">
              <a:spcBef>
                <a:spcPct val="0"/>
              </a:spcBef>
              <a:defRPr>
                <a:solidFill>
                  <a:schemeClr val="tx1"/>
                </a:solidFill>
                <a:latin typeface="Arial" charset="0"/>
                <a:cs typeface="Arial" charset="0"/>
              </a:defRPr>
            </a:lvl1pPr>
            <a:lvl2pPr marL="2286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4762" indent="0">
              <a:spcBef>
                <a:spcPts val="600"/>
              </a:spcBef>
              <a:spcAft>
                <a:spcPts val="600"/>
              </a:spcAft>
              <a:buClr>
                <a:schemeClr val="tx1"/>
              </a:buClr>
              <a:buSzPct val="100000"/>
            </a:pPr>
            <a:r>
              <a:rPr lang="en-US" sz="1400" dirty="0"/>
              <a:t>Thanks to Matt </a:t>
            </a:r>
            <a:r>
              <a:rPr lang="en-US" sz="1400" dirty="0" err="1"/>
              <a:t>Ravelling</a:t>
            </a:r>
            <a:r>
              <a:rPr lang="en-US" sz="1400" dirty="0"/>
              <a:t> for poster guidance, Brad Phelps for introducing the Quality Academy, Dr. Stephanie Faubion for introducing me to the field of Women’s health.</a:t>
            </a:r>
            <a:endParaRPr lang="en-US" altLang="ja-JP" sz="1400" dirty="0">
              <a:ea typeface="MS PGothic" pitchFamily="34" charset="-128"/>
            </a:endParaRPr>
          </a:p>
        </p:txBody>
      </p:sp>
      <p:sp>
        <p:nvSpPr>
          <p:cNvPr id="13837" name="Text Box 525"/>
          <p:cNvSpPr txBox="1">
            <a:spLocks noChangeArrowheads="1"/>
          </p:cNvSpPr>
          <p:nvPr/>
        </p:nvSpPr>
        <p:spPr bwMode="auto">
          <a:xfrm>
            <a:off x="16554285" y="13477017"/>
            <a:ext cx="4983480" cy="2465052"/>
          </a:xfrm>
          <a:prstGeom prst="rect">
            <a:avLst/>
          </a:prstGeom>
          <a:noFill/>
          <a:ln>
            <a:noFill/>
          </a:ln>
          <a:effectLst/>
        </p:spPr>
        <p:txBody>
          <a:bodyPr wrap="square" lIns="137160" tIns="91440" rIns="91440" bIns="137160">
            <a:noAutofit/>
          </a:bodyPr>
          <a:lstStyle>
            <a:lvl1pPr marL="342900" indent="-342900" algn="l" defTabSz="457200">
              <a:spcBef>
                <a:spcPct val="0"/>
              </a:spcBef>
              <a:defRPr>
                <a:solidFill>
                  <a:schemeClr val="tx1"/>
                </a:solidFill>
                <a:latin typeface="Arial" charset="0"/>
                <a:cs typeface="Arial" charset="0"/>
              </a:defRPr>
            </a:lvl1pPr>
            <a:lvl2pPr marL="735013" indent="-342900" algn="l" defTabSz="457200">
              <a:spcBef>
                <a:spcPct val="0"/>
              </a:spcBef>
              <a:defRPr>
                <a:solidFill>
                  <a:schemeClr val="tx1"/>
                </a:solidFill>
                <a:latin typeface="Arial" charset="0"/>
                <a:cs typeface="Arial" charset="0"/>
              </a:defRPr>
            </a:lvl2pPr>
            <a:lvl3pPr marL="1714500" indent="-342900" algn="l" defTabSz="457200">
              <a:spcBef>
                <a:spcPct val="0"/>
              </a:spcBef>
              <a:defRPr>
                <a:solidFill>
                  <a:schemeClr val="tx1"/>
                </a:solidFill>
                <a:latin typeface="Arial" charset="0"/>
                <a:cs typeface="Arial" charset="0"/>
              </a:defRPr>
            </a:lvl3pPr>
            <a:lvl4pPr marL="1828800" indent="-342900" algn="l" defTabSz="457200">
              <a:spcBef>
                <a:spcPct val="0"/>
              </a:spcBef>
              <a:defRPr>
                <a:solidFill>
                  <a:schemeClr val="tx1"/>
                </a:solidFill>
                <a:latin typeface="Arial" charset="0"/>
                <a:cs typeface="Arial" charset="0"/>
              </a:defRPr>
            </a:lvl4pPr>
            <a:lvl5pPr marL="2171700" indent="-342900" algn="l" defTabSz="457200">
              <a:spcBef>
                <a:spcPct val="0"/>
              </a:spcBef>
              <a:defRPr>
                <a:solidFill>
                  <a:schemeClr val="tx1"/>
                </a:solidFill>
                <a:latin typeface="Arial" charset="0"/>
                <a:cs typeface="Arial" charset="0"/>
              </a:defRPr>
            </a:lvl5pPr>
            <a:lvl6pPr marL="2628900" indent="-342900" defTabSz="457200" fontAlgn="base">
              <a:spcBef>
                <a:spcPct val="0"/>
              </a:spcBef>
              <a:spcAft>
                <a:spcPct val="0"/>
              </a:spcAft>
              <a:defRPr>
                <a:solidFill>
                  <a:schemeClr val="tx1"/>
                </a:solidFill>
                <a:latin typeface="Arial" charset="0"/>
                <a:cs typeface="Arial" charset="0"/>
              </a:defRPr>
            </a:lvl6pPr>
            <a:lvl7pPr marL="3086100" indent="-342900" defTabSz="457200" fontAlgn="base">
              <a:spcBef>
                <a:spcPct val="0"/>
              </a:spcBef>
              <a:spcAft>
                <a:spcPct val="0"/>
              </a:spcAft>
              <a:defRPr>
                <a:solidFill>
                  <a:schemeClr val="tx1"/>
                </a:solidFill>
                <a:latin typeface="Arial" charset="0"/>
                <a:cs typeface="Arial" charset="0"/>
              </a:defRPr>
            </a:lvl7pPr>
            <a:lvl8pPr marL="3543300" indent="-342900" defTabSz="457200" fontAlgn="base">
              <a:spcBef>
                <a:spcPct val="0"/>
              </a:spcBef>
              <a:spcAft>
                <a:spcPct val="0"/>
              </a:spcAft>
              <a:defRPr>
                <a:solidFill>
                  <a:schemeClr val="tx1"/>
                </a:solidFill>
                <a:latin typeface="Arial" charset="0"/>
                <a:cs typeface="Arial" charset="0"/>
              </a:defRPr>
            </a:lvl8pPr>
            <a:lvl9pPr marL="4000500" indent="-342900" defTabSz="457200" fontAlgn="base">
              <a:spcBef>
                <a:spcPct val="0"/>
              </a:spcBef>
              <a:spcAft>
                <a:spcPct val="0"/>
              </a:spcAft>
              <a:defRPr>
                <a:solidFill>
                  <a:schemeClr val="tx1"/>
                </a:solidFill>
                <a:latin typeface="Arial" charset="0"/>
                <a:cs typeface="Arial" charset="0"/>
              </a:defRPr>
            </a:lvl9pPr>
          </a:lstStyle>
          <a:p>
            <a:pPr marL="228600" indent="-223838">
              <a:spcBef>
                <a:spcPts val="600"/>
              </a:spcBef>
              <a:spcAft>
                <a:spcPts val="600"/>
              </a:spcAft>
              <a:buClr>
                <a:schemeClr val="tx1"/>
              </a:buClr>
              <a:buSzPct val="100000"/>
              <a:buFontTx/>
              <a:buAutoNum type="arabicPeriod"/>
            </a:pPr>
            <a:r>
              <a:rPr lang="en-US" altLang="ja-JP" sz="1400" dirty="0" err="1">
                <a:ea typeface="MS PGothic" pitchFamily="34" charset="-128"/>
              </a:rPr>
              <a:t>Desapriya</a:t>
            </a:r>
            <a:r>
              <a:rPr lang="en-US" altLang="ja-JP" sz="1400" dirty="0">
                <a:ea typeface="MS PGothic" pitchFamily="34" charset="-128"/>
              </a:rPr>
              <a:t> E. (2023). "Beyond the Hype: Embracing the Potential of AI in Clinical Diagnosis."</a:t>
            </a:r>
          </a:p>
          <a:p>
            <a:pPr marL="228600" indent="-223838">
              <a:spcBef>
                <a:spcPts val="600"/>
              </a:spcBef>
              <a:spcAft>
                <a:spcPts val="600"/>
              </a:spcAft>
              <a:buClr>
                <a:schemeClr val="tx1"/>
              </a:buClr>
              <a:buSzPct val="100000"/>
              <a:buFontTx/>
              <a:buAutoNum type="arabicPeriod"/>
            </a:pPr>
            <a:r>
              <a:rPr lang="en-US" altLang="ja-JP" sz="1400" dirty="0">
                <a:ea typeface="MS PGothic" pitchFamily="34" charset="-128"/>
              </a:rPr>
              <a:t>Emily L Silva. (2024). “Polycystic Ovary Syndrome Underdiagnosis Patterns by Individual-level and Spatial Social Vulnerability Measures.” </a:t>
            </a:r>
          </a:p>
        </p:txBody>
      </p:sp>
      <p:sp>
        <p:nvSpPr>
          <p:cNvPr id="13840" name="Text Box 528"/>
          <p:cNvSpPr txBox="1">
            <a:spLocks noChangeArrowheads="1"/>
          </p:cNvSpPr>
          <p:nvPr/>
        </p:nvSpPr>
        <p:spPr bwMode="auto">
          <a:xfrm>
            <a:off x="466344" y="3685030"/>
            <a:ext cx="4983480" cy="8100569"/>
          </a:xfrm>
          <a:prstGeom prst="rect">
            <a:avLst/>
          </a:prstGeom>
          <a:noFill/>
          <a:ln>
            <a:noFill/>
          </a:ln>
          <a:effectLst/>
        </p:spPr>
        <p:txBody>
          <a:bodyPr wrap="square" lIns="137160" tIns="91440" rIns="91440" bIns="137160" anchor="t">
            <a:noAutofit/>
          </a:bodyPr>
          <a:lstStyle>
            <a:lvl1pPr algn="l" defTabSz="457200">
              <a:spcBef>
                <a:spcPct val="0"/>
              </a:spcBef>
              <a:defRPr>
                <a:solidFill>
                  <a:schemeClr val="tx1"/>
                </a:solidFill>
                <a:latin typeface="Arial" charset="0"/>
                <a:cs typeface="Arial" charset="0"/>
              </a:defRPr>
            </a:lvl1pPr>
            <a:lvl2pPr marL="11430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lvl="1">
              <a:spcBef>
                <a:spcPts val="600"/>
              </a:spcBef>
              <a:spcAft>
                <a:spcPts val="0"/>
              </a:spcAft>
              <a:buClr>
                <a:schemeClr val="tx1"/>
              </a:buClr>
              <a:buSzTx/>
            </a:pPr>
            <a:r>
              <a:rPr lang="en-US" altLang="ja-JP" sz="1400" b="1" cap="all" dirty="0">
                <a:solidFill>
                  <a:schemeClr val="accent1"/>
                </a:solidFill>
                <a:ea typeface="MS PGothic" pitchFamily="34" charset="-128"/>
              </a:rPr>
              <a:t>DEFINE</a:t>
            </a:r>
            <a:br>
              <a:rPr lang="en-US" sz="1400" b="1" cap="all" dirty="0">
                <a:solidFill>
                  <a:schemeClr val="accent1"/>
                </a:solidFill>
                <a:ea typeface="MS PGothic" pitchFamily="34" charset="-128"/>
              </a:rPr>
            </a:br>
            <a:r>
              <a:rPr lang="en-US" sz="1400" dirty="0">
                <a:ea typeface="MS PGothic" pitchFamily="34" charset="-128"/>
              </a:rPr>
              <a:t>Polycystic Ovary Syndrome (PCOS) is a prevalent endocrine disorder with a complex, heterogeneous presentation. Diagnostic delays are common due to fragmented clinical data and the inability of standard EHR systems to synthesize longitudinal, multimodal inputs—such as menstrual irregularities, biochemical markers, and symptom narratives—into a structured diagnostic workflow.</a:t>
            </a:r>
          </a:p>
          <a:p>
            <a:pPr marL="0" lvl="1">
              <a:spcBef>
                <a:spcPts val="600"/>
              </a:spcBef>
              <a:spcAft>
                <a:spcPts val="0"/>
              </a:spcAft>
              <a:buClr>
                <a:schemeClr val="tx1"/>
              </a:buClr>
              <a:buSzTx/>
            </a:pPr>
            <a:r>
              <a:rPr lang="en-US" sz="1400" b="1" cap="all" dirty="0">
                <a:solidFill>
                  <a:schemeClr val="accent1"/>
                </a:solidFill>
                <a:ea typeface="MS PGothic" pitchFamily="34" charset="-128"/>
              </a:rPr>
              <a:t>measure</a:t>
            </a:r>
            <a:br>
              <a:rPr lang="en-US" sz="1400" dirty="0"/>
            </a:br>
            <a:r>
              <a:rPr lang="en-US" sz="1400" dirty="0">
                <a:ea typeface="MS PGothic" pitchFamily="34" charset="-128"/>
              </a:rPr>
              <a:t>Baseline analysis of a retrospective cohort (women aged 18–45) revealed a median diagnostic delay exceeding 24 months. Adherence to the Rotterdam criteria was inconsistent, and key indicators were often embedded in unstructured notes or dispersed across siloed systems, limiting timely recognition and standardized care delivery.</a:t>
            </a:r>
          </a:p>
          <a:p>
            <a:pPr marL="0" lvl="1">
              <a:spcBef>
                <a:spcPts val="600"/>
              </a:spcBef>
              <a:spcAft>
                <a:spcPts val="0"/>
              </a:spcAft>
              <a:buClr>
                <a:schemeClr val="tx1"/>
              </a:buClr>
              <a:buSzTx/>
            </a:pPr>
            <a:r>
              <a:rPr lang="en-US" altLang="ja-JP" sz="1400" b="1" cap="all" dirty="0">
                <a:solidFill>
                  <a:schemeClr val="accent1"/>
                </a:solidFill>
                <a:ea typeface="MS PGothic" pitchFamily="34" charset="-128"/>
              </a:rPr>
              <a:t>analyze</a:t>
            </a:r>
            <a:br>
              <a:rPr lang="en-US" sz="1400" dirty="0"/>
            </a:br>
            <a:r>
              <a:rPr lang="en-US" sz="1400" dirty="0">
                <a:ea typeface="MS PGothic" pitchFamily="34" charset="-128"/>
              </a:rPr>
              <a:t>Root cause analysis identified three primary barriers: (1) unstructured and variably documented symptomatology, (2) absence of real-time, guideline-aligned clinical decision support, and (3) variability in clinician familiarity with diagnostic pathways. These factors contributed to under-recognition and care variability.</a:t>
            </a:r>
          </a:p>
          <a:p>
            <a:pPr marL="0" lvl="1">
              <a:spcBef>
                <a:spcPts val="600"/>
              </a:spcBef>
              <a:spcAft>
                <a:spcPts val="0"/>
              </a:spcAft>
              <a:buClr>
                <a:schemeClr val="tx1"/>
              </a:buClr>
              <a:buSzTx/>
            </a:pPr>
            <a:r>
              <a:rPr lang="en-US" sz="1400" b="1" cap="all" dirty="0">
                <a:solidFill>
                  <a:schemeClr val="accent1"/>
                </a:solidFill>
                <a:ea typeface="MS PGothic" pitchFamily="34" charset="-128"/>
              </a:rPr>
              <a:t>IMPROVE</a:t>
            </a:r>
            <a:br>
              <a:rPr lang="en-US" sz="1400" dirty="0"/>
            </a:br>
            <a:r>
              <a:rPr lang="en-US" sz="1400" dirty="0">
                <a:ea typeface="MS PGothic" pitchFamily="34" charset="-128"/>
              </a:rPr>
              <a:t>An AI-powered clinical intelligence layer was integrated into the EHR to provide predictive identification, context-aware data synthesis, and explainable recommendations. A pragmatic comparative effectiveness design was used to evaluate its impact on diagnostic timelines and care adherence.</a:t>
            </a:r>
          </a:p>
          <a:p>
            <a:pPr marL="0" lvl="1">
              <a:spcBef>
                <a:spcPts val="600"/>
              </a:spcBef>
              <a:spcAft>
                <a:spcPts val="0"/>
              </a:spcAft>
              <a:buClr>
                <a:schemeClr val="tx1"/>
              </a:buClr>
              <a:buSzTx/>
            </a:pPr>
            <a:r>
              <a:rPr lang="en-US" sz="1400" b="1" cap="all" dirty="0">
                <a:solidFill>
                  <a:schemeClr val="accent1"/>
                </a:solidFill>
                <a:ea typeface="MS PGothic" pitchFamily="34" charset="-128"/>
              </a:rPr>
              <a:t>CONTROL</a:t>
            </a:r>
            <a:br>
              <a:rPr lang="en-US" sz="1400" dirty="0"/>
            </a:br>
            <a:r>
              <a:rPr lang="en-US" sz="1400" dirty="0">
                <a:ea typeface="MS PGothic" pitchFamily="34" charset="-128"/>
              </a:rPr>
              <a:t>A real-time analytics dashboard monitors diagnostic intervals, adherence metrics, and provider interaction with AI outputs. Feedback loops, model retraining protocols, and governance checkpoints are embedded to ensure sustained performance, adaptability, and alignment with clinical workflows across diverse care settings.</a:t>
            </a:r>
            <a:br>
              <a:rPr lang="en-US" dirty="0"/>
            </a:br>
            <a:endParaRPr lang="en-US" altLang="ja-JP" sz="1400" dirty="0">
              <a:ea typeface="MS PGothic" pitchFamily="34" charset="-128"/>
            </a:endParaRPr>
          </a:p>
        </p:txBody>
      </p:sp>
      <p:sp>
        <p:nvSpPr>
          <p:cNvPr id="13843" name="Text Box 531"/>
          <p:cNvSpPr txBox="1">
            <a:spLocks noChangeArrowheads="1"/>
          </p:cNvSpPr>
          <p:nvPr/>
        </p:nvSpPr>
        <p:spPr bwMode="auto">
          <a:xfrm>
            <a:off x="470849" y="12441962"/>
            <a:ext cx="4983480" cy="2696437"/>
          </a:xfrm>
          <a:prstGeom prst="rect">
            <a:avLst/>
          </a:prstGeom>
          <a:noFill/>
          <a:ln>
            <a:noFill/>
          </a:ln>
          <a:effectLst/>
        </p:spPr>
        <p:txBody>
          <a:bodyPr wrap="square" lIns="137160" tIns="91440" rIns="91440" bIns="137160" anchor="t">
            <a:no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600"/>
              </a:spcBef>
              <a:spcAft>
                <a:spcPts val="0"/>
              </a:spcAft>
            </a:pPr>
            <a:r>
              <a:rPr lang="en-US" sz="1400" b="1" cap="all" dirty="0">
                <a:solidFill>
                  <a:schemeClr val="accent1"/>
                </a:solidFill>
                <a:latin typeface="Arial"/>
                <a:ea typeface="MS PGothic"/>
                <a:cs typeface="Arial"/>
              </a:rPr>
              <a:t>Gap in quality</a:t>
            </a:r>
          </a:p>
          <a:p>
            <a:pPr marL="0">
              <a:spcBef>
                <a:spcPts val="0"/>
              </a:spcBef>
              <a:spcAft>
                <a:spcPts val="0"/>
              </a:spcAft>
            </a:pPr>
            <a:r>
              <a:rPr lang="en-US" sz="1400" dirty="0">
                <a:latin typeface="Arial"/>
                <a:ea typeface="MS PGothic"/>
                <a:cs typeface="Arial"/>
              </a:rPr>
              <a:t>Current EHRs lack the ability to synthesize longitudinal patient data, limiting proactive identification of PCOS. This contributes to &gt;2-year diagnostic delays, inconsistent use of the Rotterdam criteria, and ~65% adherence to guideline-based care.</a:t>
            </a:r>
          </a:p>
          <a:p>
            <a:pPr marL="0">
              <a:spcBef>
                <a:spcPts val="600"/>
              </a:spcBef>
              <a:spcAft>
                <a:spcPts val="0"/>
              </a:spcAft>
            </a:pPr>
            <a:r>
              <a:rPr lang="en-US" sz="1400" b="1" cap="all" dirty="0">
                <a:solidFill>
                  <a:schemeClr val="accent1"/>
                </a:solidFill>
                <a:latin typeface="Arial"/>
                <a:ea typeface="MS PGothic"/>
                <a:cs typeface="Arial"/>
              </a:rPr>
              <a:t>AIM STATEMENT</a:t>
            </a:r>
          </a:p>
          <a:p>
            <a:pPr marL="0">
              <a:spcBef>
                <a:spcPts val="0"/>
              </a:spcBef>
              <a:spcAft>
                <a:spcPts val="0"/>
              </a:spcAft>
            </a:pPr>
            <a:r>
              <a:rPr lang="en-US" sz="1400" dirty="0">
                <a:latin typeface="Arial"/>
                <a:ea typeface="MS PGothic"/>
                <a:cs typeface="Arial"/>
              </a:rPr>
              <a:t>To reduce PCOS diagnostic delays by integrating an AI-enhanced EHR layer that enables early risk detection, data synthesis, and explainable, guideline-based recommendations—while monitoring diagnostic accuracy to minimize overdiagnosis.</a:t>
            </a:r>
          </a:p>
        </p:txBody>
      </p:sp>
      <p:sp>
        <p:nvSpPr>
          <p:cNvPr id="13847" name="Text Box 535"/>
          <p:cNvSpPr txBox="1">
            <a:spLocks noChangeArrowheads="1"/>
          </p:cNvSpPr>
          <p:nvPr/>
        </p:nvSpPr>
        <p:spPr bwMode="auto">
          <a:xfrm>
            <a:off x="11166096" y="3679627"/>
            <a:ext cx="4983480" cy="3638086"/>
          </a:xfrm>
          <a:prstGeom prst="rect">
            <a:avLst/>
          </a:prstGeom>
          <a:noFill/>
          <a:ln>
            <a:noFill/>
          </a:ln>
          <a:effectLst/>
        </p:spPr>
        <p:txBody>
          <a:bodyPr wrap="square" lIns="137160" tIns="91440" rIns="91440" bIns="137160" anchor="t">
            <a:noAutofit/>
          </a:bodyPr>
          <a:lstStyle>
            <a:lvl1pPr marL="177800" indent="-177800" algn="l" defTabSz="457200">
              <a:spcBef>
                <a:spcPct val="0"/>
              </a:spcBef>
              <a:defRPr>
                <a:solidFill>
                  <a:schemeClr val="tx1"/>
                </a:solidFill>
                <a:latin typeface="Arial" charset="0"/>
                <a:cs typeface="Arial" charset="0"/>
              </a:defRPr>
            </a:lvl1pPr>
            <a:lvl2pPr marL="363538" indent="-184150" algn="l" defTabSz="457200">
              <a:spcBef>
                <a:spcPct val="0"/>
              </a:spcBef>
              <a:defRPr>
                <a:solidFill>
                  <a:schemeClr val="tx1"/>
                </a:solidFill>
                <a:latin typeface="Arial" charset="0"/>
                <a:cs typeface="Arial" charset="0"/>
              </a:defRPr>
            </a:lvl2pPr>
            <a:lvl3pPr marL="485775" indent="-12065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marR="0" lvl="0" indent="0">
              <a:spcBef>
                <a:spcPts val="0"/>
              </a:spcBef>
              <a:spcAft>
                <a:spcPts val="0"/>
              </a:spcAft>
              <a:buSzPts val="1000"/>
              <a:tabLst>
                <a:tab pos="457200" algn="l"/>
              </a:tabLst>
            </a:pPr>
            <a:r>
              <a:rPr lang="en-US" altLang="ja-JP" sz="1400" b="1" cap="all" dirty="0">
                <a:solidFill>
                  <a:schemeClr val="tx2"/>
                </a:solidFill>
                <a:ea typeface="MS PGothic" pitchFamily="34" charset="-128"/>
              </a:rPr>
              <a:t>Interventions ae selected and tested</a:t>
            </a:r>
            <a:br>
              <a:rPr lang="en-US" altLang="ja-JP" sz="1400" b="1" i="1" dirty="0">
                <a:ea typeface="MS PGothic" pitchFamily="34" charset="-128"/>
              </a:rPr>
            </a:br>
            <a:r>
              <a:rPr lang="en-US" sz="1400" dirty="0">
                <a:latin typeface="+mn-lt"/>
              </a:rPr>
              <a:t>AI-driven clinical intelligence layer integrated into EHR system consisting of three components:</a:t>
            </a:r>
          </a:p>
          <a:p>
            <a:pPr marL="342900" marR="0" lvl="0" indent="-342900">
              <a:spcBef>
                <a:spcPts val="0"/>
              </a:spcBef>
              <a:spcAft>
                <a:spcPts val="0"/>
              </a:spcAft>
              <a:buSzPts val="1000"/>
              <a:buFont typeface="+mj-lt"/>
              <a:buAutoNum type="arabicPeriod"/>
              <a:tabLst>
                <a:tab pos="457200" algn="l"/>
              </a:tabLst>
            </a:pPr>
            <a:r>
              <a:rPr lang="en-US" sz="1400" b="1" dirty="0">
                <a:latin typeface="+mn-lt"/>
              </a:rPr>
              <a:t>Predictive Identification </a:t>
            </a:r>
            <a:r>
              <a:rPr lang="en-US" sz="1400" dirty="0">
                <a:latin typeface="+mn-lt"/>
              </a:rPr>
              <a:t>– Uses longitudinal patient data to estimate the likelihood of PCOS.</a:t>
            </a:r>
          </a:p>
          <a:p>
            <a:pPr marL="342900" marR="0" lvl="0" indent="-342900">
              <a:spcBef>
                <a:spcPts val="0"/>
              </a:spcBef>
              <a:spcAft>
                <a:spcPts val="0"/>
              </a:spcAft>
              <a:buSzPts val="1000"/>
              <a:buFont typeface="+mj-lt"/>
              <a:buAutoNum type="arabicPeriod"/>
              <a:tabLst>
                <a:tab pos="457200" algn="l"/>
              </a:tabLst>
            </a:pPr>
            <a:r>
              <a:rPr lang="en-US" sz="1400" b="1" dirty="0">
                <a:latin typeface="+mn-lt"/>
              </a:rPr>
              <a:t>Contextual Synthesis </a:t>
            </a:r>
            <a:r>
              <a:rPr lang="en-US" sz="1400" dirty="0">
                <a:latin typeface="+mn-lt"/>
              </a:rPr>
              <a:t>– Summarizes key diagnostic data during relevant clinical encounters.</a:t>
            </a:r>
          </a:p>
          <a:p>
            <a:pPr marL="342900" marR="0" lvl="0" indent="-342900">
              <a:spcBef>
                <a:spcPts val="0"/>
              </a:spcBef>
              <a:spcAft>
                <a:spcPts val="0"/>
              </a:spcAft>
              <a:buSzPts val="1000"/>
              <a:buFont typeface="+mj-lt"/>
              <a:buAutoNum type="arabicPeriod"/>
              <a:tabLst>
                <a:tab pos="457200" algn="l"/>
              </a:tabLst>
            </a:pPr>
            <a:r>
              <a:rPr lang="en-US" sz="1400" b="1" dirty="0">
                <a:latin typeface="+mn-lt"/>
              </a:rPr>
              <a:t>Explainable Recommendations </a:t>
            </a:r>
            <a:r>
              <a:rPr lang="en-US" sz="1400" dirty="0">
                <a:latin typeface="+mn-lt"/>
              </a:rPr>
              <a:t>– Provides guideline-based, personalized care suggestions with transparent justifications.</a:t>
            </a:r>
          </a:p>
          <a:p>
            <a:pPr marL="0" indent="0">
              <a:spcBef>
                <a:spcPts val="0"/>
              </a:spcBef>
              <a:spcAft>
                <a:spcPts val="0"/>
              </a:spcAft>
              <a:buSzPts val="1000"/>
              <a:tabLst>
                <a:tab pos="457200" algn="l"/>
              </a:tabLst>
            </a:pPr>
            <a:r>
              <a:rPr lang="en-US" sz="1400" dirty="0">
                <a:latin typeface="+mn-lt"/>
              </a:rPr>
              <a:t>PCOS diagnosis is often delayed due to its heterogeneous presentation and EHR limitations in aggregating longitudinal data. An AI-enhanced EHR was selected to address these gaps by enabling early risk identification, data synthesis, and explainable, guideline-based recommendations to improve diagnostic timeliness and care adherence.</a:t>
            </a:r>
          </a:p>
        </p:txBody>
      </p:sp>
      <p:sp>
        <p:nvSpPr>
          <p:cNvPr id="13850" name="Text Box 538"/>
          <p:cNvSpPr txBox="1">
            <a:spLocks noChangeArrowheads="1"/>
          </p:cNvSpPr>
          <p:nvPr/>
        </p:nvSpPr>
        <p:spPr bwMode="auto">
          <a:xfrm>
            <a:off x="5796026" y="3684483"/>
            <a:ext cx="4983480" cy="6924973"/>
          </a:xfrm>
          <a:prstGeom prst="rect">
            <a:avLst/>
          </a:prstGeom>
          <a:noFill/>
          <a:ln>
            <a:noFill/>
          </a:ln>
          <a:effectLst/>
        </p:spPr>
        <p:txBody>
          <a:bodyPr wrap="square" lIns="137160" tIns="91440" rIns="91440" bIns="137160" anchor="t" anchorCtr="0">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a:spcBef>
                <a:spcPts val="0"/>
              </a:spcBef>
              <a:spcAft>
                <a:spcPts val="0"/>
              </a:spcAft>
              <a:buClr>
                <a:schemeClr val="tx1"/>
              </a:buClr>
              <a:buSzTx/>
              <a:buFont typeface="Wingdings" pitchFamily="2" charset="2"/>
              <a:buNone/>
            </a:pPr>
            <a:r>
              <a:rPr lang="en-US" altLang="ja-JP" sz="1400" b="1" cap="all" dirty="0">
                <a:solidFill>
                  <a:schemeClr val="accent1"/>
                </a:solidFill>
                <a:ea typeface="MS PGothic" pitchFamily="34" charset="-128"/>
              </a:rPr>
              <a:t>Improvement measure baseline and </a:t>
            </a:r>
          </a:p>
          <a:p>
            <a:pPr marL="0">
              <a:spcBef>
                <a:spcPts val="0"/>
              </a:spcBef>
              <a:spcAft>
                <a:spcPts val="0"/>
              </a:spcAft>
              <a:buClr>
                <a:schemeClr val="tx1"/>
              </a:buClr>
              <a:buSzTx/>
              <a:buFont typeface="Wingdings" pitchFamily="2" charset="2"/>
              <a:buNone/>
            </a:pPr>
            <a:r>
              <a:rPr lang="en-US" altLang="ja-JP" sz="1400" b="1" cap="all" dirty="0">
                <a:solidFill>
                  <a:schemeClr val="accent1"/>
                </a:solidFill>
                <a:ea typeface="MS PGothic" pitchFamily="34" charset="-128"/>
              </a:rPr>
              <a:t>sample size</a:t>
            </a:r>
          </a:p>
          <a:p>
            <a:pPr marL="0">
              <a:spcBef>
                <a:spcPts val="0"/>
              </a:spcBef>
              <a:spcAft>
                <a:spcPts val="0"/>
              </a:spcAft>
              <a:buClr>
                <a:schemeClr val="tx1"/>
              </a:buClr>
              <a:buSzTx/>
              <a:buFont typeface="Wingdings" pitchFamily="2" charset="2"/>
              <a:buNone/>
            </a:pPr>
            <a:r>
              <a:rPr lang="en-US" sz="1400" dirty="0">
                <a:ea typeface="MS PGothic" pitchFamily="34" charset="-128"/>
              </a:rPr>
              <a:t>Estimated baseline time-to-diagnosis is ~28 months, based on literature and planned retrospective EHR review (~1,200 patients).</a:t>
            </a:r>
          </a:p>
          <a:p>
            <a:pPr marL="0">
              <a:spcBef>
                <a:spcPts val="600"/>
              </a:spcBef>
              <a:spcAft>
                <a:spcPts val="0"/>
              </a:spcAft>
              <a:buClr>
                <a:schemeClr val="tx1"/>
              </a:buClr>
              <a:buSzTx/>
              <a:buFont typeface="Wingdings" pitchFamily="2" charset="2"/>
              <a:buNone/>
            </a:pPr>
            <a:r>
              <a:rPr lang="en-US" altLang="ja-JP" sz="1400" b="1" cap="all" dirty="0">
                <a:solidFill>
                  <a:schemeClr val="accent1"/>
                </a:solidFill>
                <a:latin typeface="Arial"/>
                <a:ea typeface="MS PGothic"/>
                <a:cs typeface="Arial"/>
              </a:rPr>
              <a:t>Balancing measure baseline and sample size</a:t>
            </a:r>
          </a:p>
          <a:p>
            <a:pPr marL="0">
              <a:spcBef>
                <a:spcPts val="0"/>
              </a:spcBef>
              <a:spcAft>
                <a:spcPts val="0"/>
              </a:spcAft>
              <a:buClr>
                <a:schemeClr val="tx1"/>
              </a:buClr>
              <a:buSzTx/>
            </a:pPr>
            <a:r>
              <a:rPr lang="en-US" altLang="ja-JP" sz="1400" dirty="0">
                <a:ea typeface="MS PGothic" pitchFamily="34" charset="-128"/>
              </a:rPr>
              <a:t>To assess the balancing risk of overdiagnosis, ~300 AI-flagged PCOS cases will undergo expert review; literature suggests a 3–5% reversal baseline.</a:t>
            </a:r>
            <a:endParaRPr lang="en-US" altLang="ja-JP" sz="1400" b="1" cap="all" dirty="0">
              <a:solidFill>
                <a:schemeClr val="accent1"/>
              </a:solidFill>
              <a:latin typeface="Arial"/>
              <a:ea typeface="MS PGothic"/>
              <a:cs typeface="Arial"/>
            </a:endParaRPr>
          </a:p>
          <a:p>
            <a:pPr marL="0">
              <a:spcBef>
                <a:spcPts val="600"/>
              </a:spcBef>
              <a:spcAft>
                <a:spcPts val="0"/>
              </a:spcAft>
              <a:buSzTx/>
            </a:pPr>
            <a:r>
              <a:rPr lang="en-US" altLang="ja-JP" sz="1400" b="1" cap="all" dirty="0">
                <a:solidFill>
                  <a:schemeClr val="accent1"/>
                </a:solidFill>
                <a:latin typeface="Arial"/>
                <a:ea typeface="MS PGothic"/>
                <a:cs typeface="Arial"/>
              </a:rPr>
              <a:t>Data collection plan for improvement and balancing measures</a:t>
            </a:r>
          </a:p>
          <a:p>
            <a:pPr marL="285750" indent="-285750">
              <a:spcBef>
                <a:spcPts val="600"/>
              </a:spcBef>
              <a:spcAft>
                <a:spcPts val="0"/>
              </a:spcAft>
              <a:buSzTx/>
              <a:buFont typeface="Arial" panose="020B0604020202020204" pitchFamily="34" charset="0"/>
              <a:buChar char="•"/>
            </a:pPr>
            <a:r>
              <a:rPr lang="en-US" altLang="ja-JP" sz="1400" b="1" dirty="0">
                <a:latin typeface="Arial"/>
                <a:ea typeface="MS PGothic"/>
                <a:cs typeface="Arial"/>
              </a:rPr>
              <a:t>Measurement name</a:t>
            </a:r>
          </a:p>
          <a:p>
            <a:pPr marL="0" lvl="1" indent="0">
              <a:spcBef>
                <a:spcPts val="0"/>
              </a:spcBef>
              <a:spcAft>
                <a:spcPts val="0"/>
              </a:spcAft>
              <a:buClr>
                <a:schemeClr val="tx1"/>
              </a:buClr>
              <a:buSzTx/>
            </a:pPr>
            <a:r>
              <a:rPr lang="en-US" altLang="ja-JP" sz="1400" i="1" dirty="0">
                <a:ea typeface="MS PGothic" pitchFamily="34" charset="-128"/>
              </a:rPr>
              <a:t>Improvement: </a:t>
            </a:r>
            <a:r>
              <a:rPr lang="en-US" altLang="ja-JP" sz="1400" dirty="0">
                <a:ea typeface="MS PGothic" pitchFamily="34" charset="-128"/>
              </a:rPr>
              <a:t>AI-Assisted Time-to-PCOS Diagnosis</a:t>
            </a:r>
          </a:p>
          <a:p>
            <a:pPr marL="0" lvl="1" indent="0">
              <a:spcBef>
                <a:spcPts val="0"/>
              </a:spcBef>
              <a:spcAft>
                <a:spcPts val="0"/>
              </a:spcAft>
              <a:buClr>
                <a:schemeClr val="tx1"/>
              </a:buClr>
              <a:buSzTx/>
            </a:pPr>
            <a:r>
              <a:rPr lang="en-US" altLang="ja-JP" sz="1400" i="1" dirty="0">
                <a:ea typeface="MS PGothic" pitchFamily="34" charset="-128"/>
              </a:rPr>
              <a:t>Balancing: </a:t>
            </a:r>
            <a:r>
              <a:rPr lang="en-US" altLang="ja-JP" sz="1400" dirty="0">
                <a:ea typeface="MS PGothic" pitchFamily="34" charset="-128"/>
              </a:rPr>
              <a:t>Accuracy of AI-Flagged PCOS Diagnoses</a:t>
            </a:r>
            <a:endParaRPr lang="en-US" altLang="ja-JP" sz="1400" dirty="0">
              <a:latin typeface="Arial"/>
              <a:ea typeface="MS PGothic"/>
              <a:cs typeface="Arial"/>
            </a:endParaRPr>
          </a:p>
          <a:p>
            <a:pPr marL="285750" indent="-285750">
              <a:spcBef>
                <a:spcPts val="0"/>
              </a:spcBef>
              <a:spcAft>
                <a:spcPts val="0"/>
              </a:spcAft>
              <a:buSzTx/>
              <a:buFont typeface="Arial" panose="020B0604020202020204" pitchFamily="34" charset="0"/>
              <a:buChar char="•"/>
            </a:pPr>
            <a:r>
              <a:rPr lang="en-US" altLang="ja-JP" sz="1400" b="1" dirty="0">
                <a:latin typeface="Arial"/>
                <a:ea typeface="MS PGothic"/>
                <a:cs typeface="Arial"/>
              </a:rPr>
              <a:t>Operational definition/description of measurement</a:t>
            </a:r>
          </a:p>
          <a:p>
            <a:pPr marL="0">
              <a:spcBef>
                <a:spcPts val="0"/>
              </a:spcBef>
              <a:spcAft>
                <a:spcPts val="0"/>
              </a:spcAft>
              <a:buSzTx/>
            </a:pPr>
            <a:r>
              <a:rPr lang="en-US" altLang="ja-JP" sz="1400" i="1" dirty="0">
                <a:latin typeface="Arial"/>
                <a:ea typeface="MS PGothic"/>
                <a:cs typeface="Arial"/>
              </a:rPr>
              <a:t>AI-Assisted Time-to-Diagnosis: </a:t>
            </a:r>
            <a:r>
              <a:rPr lang="en-US" altLang="ja-JP" sz="1400" dirty="0">
                <a:latin typeface="Arial"/>
                <a:ea typeface="MS PGothic"/>
                <a:cs typeface="Arial"/>
              </a:rPr>
              <a:t>Months from first symptom to PCOS diagnosis flagged by AI.</a:t>
            </a:r>
          </a:p>
          <a:p>
            <a:pPr marL="0">
              <a:spcBef>
                <a:spcPts val="0"/>
              </a:spcBef>
              <a:spcAft>
                <a:spcPts val="0"/>
              </a:spcAft>
              <a:buSzTx/>
            </a:pPr>
            <a:r>
              <a:rPr lang="en-US" altLang="ja-JP" sz="1400" i="1" dirty="0">
                <a:latin typeface="Arial"/>
                <a:ea typeface="MS PGothic"/>
                <a:cs typeface="Arial"/>
              </a:rPr>
              <a:t>AI Diagnosis Accuracy: </a:t>
            </a:r>
            <a:r>
              <a:rPr lang="en-US" altLang="ja-JP" sz="1400" dirty="0">
                <a:latin typeface="Arial"/>
                <a:ea typeface="MS PGothic"/>
                <a:cs typeface="Arial"/>
              </a:rPr>
              <a:t>% of AI-flagged PCOS cases reversed within 12 months.</a:t>
            </a:r>
          </a:p>
          <a:p>
            <a:pPr marL="285750" indent="-285750">
              <a:spcBef>
                <a:spcPts val="0"/>
              </a:spcBef>
              <a:spcAft>
                <a:spcPts val="0"/>
              </a:spcAft>
              <a:buSzTx/>
              <a:buFont typeface="Arial" panose="020B0604020202020204" pitchFamily="34" charset="0"/>
              <a:buChar char="•"/>
            </a:pPr>
            <a:r>
              <a:rPr lang="en-US" altLang="ja-JP" sz="1400" b="1" dirty="0">
                <a:latin typeface="Arial"/>
                <a:ea typeface="MS PGothic"/>
                <a:cs typeface="Arial"/>
              </a:rPr>
              <a:t>Data source</a:t>
            </a:r>
          </a:p>
          <a:p>
            <a:pPr marL="0">
              <a:spcBef>
                <a:spcPts val="0"/>
              </a:spcBef>
              <a:spcAft>
                <a:spcPts val="0"/>
              </a:spcAft>
              <a:buSzTx/>
            </a:pPr>
            <a:r>
              <a:rPr lang="en-US" altLang="ja-JP" sz="1400" dirty="0">
                <a:latin typeface="Arial"/>
                <a:ea typeface="MS PGothic"/>
                <a:cs typeface="Arial"/>
              </a:rPr>
              <a:t>Structured EHR data (ICD codes, labs), unstructured clinical notes, and manual chart review</a:t>
            </a:r>
          </a:p>
          <a:p>
            <a:pPr marL="285750" indent="-285750">
              <a:spcBef>
                <a:spcPts val="0"/>
              </a:spcBef>
              <a:spcAft>
                <a:spcPts val="0"/>
              </a:spcAft>
              <a:buSzTx/>
              <a:buFont typeface="Arial" panose="020B0604020202020204" pitchFamily="34" charset="0"/>
              <a:buChar char="•"/>
            </a:pPr>
            <a:r>
              <a:rPr lang="en-US" altLang="ja-JP" sz="1400" b="1" dirty="0">
                <a:latin typeface="Arial"/>
                <a:ea typeface="MS PGothic"/>
                <a:cs typeface="Arial"/>
              </a:rPr>
              <a:t>Sampling plan</a:t>
            </a:r>
          </a:p>
          <a:p>
            <a:pPr marL="0">
              <a:spcBef>
                <a:spcPts val="0"/>
              </a:spcBef>
              <a:spcAft>
                <a:spcPts val="0"/>
              </a:spcAft>
              <a:buSzTx/>
            </a:pPr>
            <a:r>
              <a:rPr lang="en-US" altLang="ja-JP" sz="1400" i="1" dirty="0">
                <a:latin typeface="Arial"/>
                <a:ea typeface="MS PGothic"/>
                <a:cs typeface="Arial"/>
              </a:rPr>
              <a:t>Cohort Design: </a:t>
            </a:r>
            <a:r>
              <a:rPr lang="en-US" altLang="ja-JP" sz="1400" dirty="0">
                <a:latin typeface="Arial"/>
                <a:ea typeface="MS PGothic"/>
                <a:cs typeface="Arial"/>
              </a:rPr>
              <a:t>Age and BMI Stratified</a:t>
            </a:r>
          </a:p>
          <a:p>
            <a:pPr marL="0">
              <a:spcBef>
                <a:spcPts val="0"/>
              </a:spcBef>
              <a:spcAft>
                <a:spcPts val="0"/>
              </a:spcAft>
              <a:buSzTx/>
            </a:pPr>
            <a:r>
              <a:rPr lang="en-US" altLang="ja-JP" sz="1400" i="1" dirty="0">
                <a:latin typeface="Arial"/>
                <a:ea typeface="MS PGothic"/>
                <a:cs typeface="Arial"/>
              </a:rPr>
              <a:t>Estimated sample sizes: </a:t>
            </a:r>
            <a:r>
              <a:rPr lang="en-US" altLang="ja-JP" sz="1400" dirty="0">
                <a:latin typeface="Arial"/>
                <a:ea typeface="MS PGothic"/>
                <a:cs typeface="Arial"/>
              </a:rPr>
              <a:t>~1,200 (improvement), ~300 (balancing)</a:t>
            </a:r>
          </a:p>
          <a:p>
            <a:pPr marL="285750" indent="-285750">
              <a:spcBef>
                <a:spcPts val="0"/>
              </a:spcBef>
              <a:spcAft>
                <a:spcPts val="0"/>
              </a:spcAft>
              <a:buSzTx/>
              <a:buFont typeface="Arial" panose="020B0604020202020204" pitchFamily="34" charset="0"/>
              <a:buChar char="•"/>
            </a:pPr>
            <a:r>
              <a:rPr lang="en-US" altLang="ja-JP" sz="1400" b="1" dirty="0">
                <a:latin typeface="Arial"/>
                <a:ea typeface="MS PGothic"/>
                <a:cs typeface="Arial"/>
              </a:rPr>
              <a:t>Data Collection Strategy</a:t>
            </a:r>
          </a:p>
          <a:p>
            <a:pPr marL="0">
              <a:spcBef>
                <a:spcPts val="0"/>
              </a:spcBef>
              <a:spcAft>
                <a:spcPts val="0"/>
              </a:spcAft>
              <a:buSzTx/>
            </a:pPr>
            <a:r>
              <a:rPr lang="en-US" altLang="ja-JP" sz="1400" dirty="0">
                <a:latin typeface="Arial"/>
                <a:ea typeface="MS PGothic"/>
                <a:cs typeface="Arial"/>
              </a:rPr>
              <a:t>Data will be collected post-implementation by the research team and recorded in </a:t>
            </a:r>
            <a:r>
              <a:rPr lang="en-US" altLang="ja-JP" sz="1400" dirty="0" err="1">
                <a:latin typeface="Arial"/>
                <a:ea typeface="MS PGothic"/>
                <a:cs typeface="Arial"/>
              </a:rPr>
              <a:t>REDCap</a:t>
            </a:r>
            <a:r>
              <a:rPr lang="en-US" altLang="ja-JP" sz="1400" dirty="0">
                <a:latin typeface="Arial"/>
                <a:ea typeface="MS PGothic"/>
                <a:cs typeface="Arial"/>
              </a:rPr>
              <a:t> with audit trails and EHR-linked entries.</a:t>
            </a:r>
          </a:p>
        </p:txBody>
      </p:sp>
      <p:sp>
        <p:nvSpPr>
          <p:cNvPr id="13852" name="Text Box 540"/>
          <p:cNvSpPr txBox="1">
            <a:spLocks noChangeArrowheads="1"/>
          </p:cNvSpPr>
          <p:nvPr/>
        </p:nvSpPr>
        <p:spPr bwMode="auto">
          <a:xfrm>
            <a:off x="5796026" y="11609695"/>
            <a:ext cx="4983480" cy="4173900"/>
          </a:xfrm>
          <a:prstGeom prst="rect">
            <a:avLst/>
          </a:prstGeom>
          <a:noFill/>
          <a:ln>
            <a:noFill/>
          </a:ln>
          <a:effectLst/>
        </p:spPr>
        <p:txBody>
          <a:bodyPr wrap="square" lIns="137160" tIns="91440" rIns="91440" bIns="137160" anchor="t">
            <a:spAutoFit/>
          </a:bodyPr>
          <a:lstStyle>
            <a:lvl1pPr marL="114300" algn="l" defTabSz="457200">
              <a:spcBef>
                <a:spcPct val="0"/>
              </a:spcBef>
              <a:defRPr>
                <a:solidFill>
                  <a:schemeClr val="tx1"/>
                </a:solidFill>
                <a:latin typeface="Arial" charset="0"/>
                <a:cs typeface="Arial" charset="0"/>
              </a:defRPr>
            </a:lvl1pPr>
            <a:lvl2pPr marL="1257300" indent="-400050" algn="l" defTabSz="457200">
              <a:spcBef>
                <a:spcPct val="0"/>
              </a:spcBef>
              <a:defRPr>
                <a:solidFill>
                  <a:schemeClr val="tx1"/>
                </a:solidFill>
                <a:latin typeface="Arial" charset="0"/>
                <a:cs typeface="Arial" charset="0"/>
              </a:defRPr>
            </a:lvl2pPr>
            <a:lvl3pPr marL="137160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defTabSz="914400">
              <a:lnSpc>
                <a:spcPct val="115000"/>
              </a:lnSpc>
              <a:spcBef>
                <a:spcPts val="0"/>
              </a:spcBef>
              <a:spcAft>
                <a:spcPts val="0"/>
              </a:spcAft>
              <a:buSzPts val="1000"/>
              <a:tabLst>
                <a:tab pos="457200" algn="l"/>
              </a:tabLst>
            </a:pPr>
            <a:r>
              <a:rPr lang="en-US" altLang="ja-JP" sz="1400" b="1" cap="all" dirty="0">
                <a:solidFill>
                  <a:schemeClr val="tx2"/>
                </a:solidFill>
                <a:latin typeface="Arial" panose="020B0604020202020204"/>
                <a:ea typeface="MS PGothic" pitchFamily="34" charset="-128"/>
              </a:rPr>
              <a:t>Potential causes</a:t>
            </a:r>
            <a:br>
              <a:rPr lang="en-US" altLang="ja-JP" sz="1400" b="1" i="1" dirty="0">
                <a:solidFill>
                  <a:srgbClr val="000000"/>
                </a:solidFill>
                <a:ea typeface="MS PGothic" pitchFamily="34" charset="-128"/>
              </a:rPr>
            </a:br>
            <a:r>
              <a:rPr lang="en-US" altLang="ja-JP" sz="1400" dirty="0">
                <a:latin typeface="Arial" panose="020B0604020202020204" pitchFamily="34" charset="0"/>
                <a:cs typeface="Arial" panose="020B0604020202020204" pitchFamily="34" charset="0"/>
              </a:rPr>
              <a:t>The team identified several contributing factors to delayed PCOS diagnosis through literature review, retrospective EHR audits, and informal clinician interviews. A structured fishbone diagram was used to categorize causes across four domains:</a:t>
            </a:r>
          </a:p>
          <a:p>
            <a:pPr marL="285750" indent="-285750" defTabSz="914400">
              <a:lnSpc>
                <a:spcPct val="115000"/>
              </a:lnSpc>
              <a:spcBef>
                <a:spcPts val="0"/>
              </a:spcBef>
              <a:spcAft>
                <a:spcPts val="0"/>
              </a:spcAft>
              <a:buSzPts val="1000"/>
              <a:buFont typeface="Arial" panose="020B0604020202020204" pitchFamily="34" charset="0"/>
              <a:buChar char="•"/>
              <a:tabLst>
                <a:tab pos="457200" algn="l"/>
              </a:tabLst>
            </a:pPr>
            <a:r>
              <a:rPr lang="en-US" altLang="ja-JP" sz="1400" b="1" dirty="0">
                <a:latin typeface="Arial" panose="020B0604020202020204" pitchFamily="34" charset="0"/>
                <a:cs typeface="Arial" panose="020B0604020202020204" pitchFamily="34" charset="0"/>
              </a:rPr>
              <a:t>Data fragmentation: </a:t>
            </a:r>
            <a:r>
              <a:rPr lang="en-US" altLang="ja-JP" sz="1400" dirty="0">
                <a:latin typeface="Arial" panose="020B0604020202020204" pitchFamily="34" charset="0"/>
                <a:cs typeface="Arial" panose="020B0604020202020204" pitchFamily="34" charset="0"/>
              </a:rPr>
              <a:t>Relevant clinical indicators (e.g., menstrual history, hirsutism, labs) are scattered across unstructured notes, patient portals, and lab systems.</a:t>
            </a:r>
          </a:p>
          <a:p>
            <a:pPr marL="285750" indent="-285750" defTabSz="914400">
              <a:lnSpc>
                <a:spcPct val="115000"/>
              </a:lnSpc>
              <a:spcBef>
                <a:spcPts val="0"/>
              </a:spcBef>
              <a:spcAft>
                <a:spcPts val="0"/>
              </a:spcAft>
              <a:buSzPts val="1000"/>
              <a:buFont typeface="Arial" panose="020B0604020202020204" pitchFamily="34" charset="0"/>
              <a:buChar char="•"/>
              <a:tabLst>
                <a:tab pos="457200" algn="l"/>
              </a:tabLst>
            </a:pPr>
            <a:r>
              <a:rPr lang="en-US" altLang="ja-JP" sz="1400" b="1" dirty="0">
                <a:latin typeface="Arial" panose="020B0604020202020204" pitchFamily="34" charset="0"/>
                <a:cs typeface="Arial" panose="020B0604020202020204" pitchFamily="34" charset="0"/>
              </a:rPr>
              <a:t>Lack of decision support: </a:t>
            </a:r>
            <a:r>
              <a:rPr lang="en-US" altLang="ja-JP" sz="1400" dirty="0">
                <a:latin typeface="Arial" panose="020B0604020202020204" pitchFamily="34" charset="0"/>
                <a:cs typeface="Arial" panose="020B0604020202020204" pitchFamily="34" charset="0"/>
              </a:rPr>
              <a:t>EHRs do not flag potential PCOS cases or synthesize data in real time.</a:t>
            </a:r>
          </a:p>
          <a:p>
            <a:pPr marL="285750" indent="-285750" defTabSz="914400">
              <a:lnSpc>
                <a:spcPct val="115000"/>
              </a:lnSpc>
              <a:spcBef>
                <a:spcPts val="0"/>
              </a:spcBef>
              <a:spcAft>
                <a:spcPts val="0"/>
              </a:spcAft>
              <a:buSzPts val="1000"/>
              <a:buFont typeface="Arial" panose="020B0604020202020204" pitchFamily="34" charset="0"/>
              <a:buChar char="•"/>
              <a:tabLst>
                <a:tab pos="457200" algn="l"/>
              </a:tabLst>
            </a:pPr>
            <a:r>
              <a:rPr lang="en-US" altLang="ja-JP" sz="1400" b="1" dirty="0">
                <a:latin typeface="Arial" panose="020B0604020202020204" pitchFamily="34" charset="0"/>
                <a:cs typeface="Arial" panose="020B0604020202020204" pitchFamily="34" charset="0"/>
              </a:rPr>
              <a:t>Variability in clinician knowledge: </a:t>
            </a:r>
            <a:r>
              <a:rPr lang="en-US" altLang="ja-JP" sz="1400" dirty="0">
                <a:latin typeface="Arial" panose="020B0604020202020204" pitchFamily="34" charset="0"/>
                <a:cs typeface="Arial" panose="020B0604020202020204" pitchFamily="34" charset="0"/>
              </a:rPr>
              <a:t>Inconsistent familiarity with Rotterdam criteria and guideline-based care.</a:t>
            </a:r>
          </a:p>
          <a:p>
            <a:pPr marL="285750" indent="-285750" defTabSz="914400">
              <a:lnSpc>
                <a:spcPct val="115000"/>
              </a:lnSpc>
              <a:spcBef>
                <a:spcPts val="0"/>
              </a:spcBef>
              <a:spcAft>
                <a:spcPts val="0"/>
              </a:spcAft>
              <a:buSzPts val="1000"/>
              <a:buFont typeface="Arial" panose="020B0604020202020204" pitchFamily="34" charset="0"/>
              <a:buChar char="•"/>
              <a:tabLst>
                <a:tab pos="457200" algn="l"/>
              </a:tabLst>
            </a:pPr>
            <a:r>
              <a:rPr lang="en-US" altLang="ja-JP" sz="1400" b="1" dirty="0">
                <a:latin typeface="Arial" panose="020B0604020202020204" pitchFamily="34" charset="0"/>
                <a:cs typeface="Arial" panose="020B0604020202020204" pitchFamily="34" charset="0"/>
              </a:rPr>
              <a:t>Workflow burden: </a:t>
            </a:r>
            <a:r>
              <a:rPr lang="en-US" altLang="ja-JP" sz="1400" dirty="0">
                <a:latin typeface="Arial" panose="020B0604020202020204" pitchFamily="34" charset="0"/>
                <a:cs typeface="Arial" panose="020B0604020202020204" pitchFamily="34" charset="0"/>
              </a:rPr>
              <a:t>Time constraints limit comprehensive data review during encounters.</a:t>
            </a:r>
          </a:p>
        </p:txBody>
      </p:sp>
      <p:sp>
        <p:nvSpPr>
          <p:cNvPr id="4" name="Text Placeholder 3">
            <a:extLst>
              <a:ext uri="{FF2B5EF4-FFF2-40B4-BE49-F238E27FC236}">
                <a16:creationId xmlns:a16="http://schemas.microsoft.com/office/drawing/2014/main" id="{828BCCD6-60C5-4B3E-AF74-435F51A7B61D}"/>
              </a:ext>
            </a:extLst>
          </p:cNvPr>
          <p:cNvSpPr>
            <a:spLocks noGrp="1"/>
          </p:cNvSpPr>
          <p:nvPr>
            <p:ph type="body" sz="quarter" idx="12"/>
          </p:nvPr>
        </p:nvSpPr>
        <p:spPr>
          <a:xfrm>
            <a:off x="4114800" y="691407"/>
            <a:ext cx="13716000" cy="934968"/>
          </a:xfrm>
        </p:spPr>
        <p:txBody>
          <a:bodyPr/>
          <a:lstStyle/>
          <a:p>
            <a:r>
              <a:rPr lang="en-US" altLang="en-US" dirty="0">
                <a:solidFill>
                  <a:schemeClr val="bg1"/>
                </a:solidFill>
              </a:rPr>
              <a:t>Transforming PCOS Care</a:t>
            </a:r>
          </a:p>
          <a:p>
            <a:r>
              <a:rPr lang="en-US" sz="2400" i="1" dirty="0">
                <a:solidFill>
                  <a:schemeClr val="bg1"/>
                </a:solidFill>
              </a:rPr>
              <a:t>(Accelerating PCOS Diagnosis and Optimizing Guideline-Driven Care)</a:t>
            </a:r>
            <a:endParaRPr lang="en-US" altLang="en-US" sz="2400" i="1" dirty="0">
              <a:solidFill>
                <a:schemeClr val="bg1"/>
              </a:solidFill>
            </a:endParaRPr>
          </a:p>
        </p:txBody>
      </p:sp>
      <p:sp>
        <p:nvSpPr>
          <p:cNvPr id="15" name="Text Placeholder 14">
            <a:extLst>
              <a:ext uri="{FF2B5EF4-FFF2-40B4-BE49-F238E27FC236}">
                <a16:creationId xmlns:a16="http://schemas.microsoft.com/office/drawing/2014/main" id="{A56F452E-2289-AB46-86E1-44D4CE84B36A}"/>
              </a:ext>
            </a:extLst>
          </p:cNvPr>
          <p:cNvSpPr>
            <a:spLocks noGrp="1"/>
          </p:cNvSpPr>
          <p:nvPr>
            <p:ph type="body" sz="quarter" idx="10"/>
          </p:nvPr>
        </p:nvSpPr>
        <p:spPr>
          <a:xfrm>
            <a:off x="4114800" y="1617188"/>
            <a:ext cx="13716000" cy="777240"/>
          </a:xfrm>
        </p:spPr>
        <p:txBody>
          <a:bodyPr/>
          <a:lstStyle/>
          <a:p>
            <a:r>
              <a:rPr lang="en-US" sz="1800" dirty="0"/>
              <a:t>Shaik, Mustafa, M.S.</a:t>
            </a:r>
            <a:r>
              <a:rPr lang="en-US" altLang="en-US" sz="1800" baseline="30000" dirty="0"/>
              <a:t>1</a:t>
            </a:r>
            <a:r>
              <a:rPr lang="en-US" altLang="en-US" sz="1800" dirty="0"/>
              <a:t>, </a:t>
            </a:r>
            <a:r>
              <a:rPr lang="en-US" sz="1800" dirty="0" err="1"/>
              <a:t>Zanjirani</a:t>
            </a:r>
            <a:r>
              <a:rPr lang="en-US" sz="1800" dirty="0"/>
              <a:t> Farahani, </a:t>
            </a:r>
            <a:r>
              <a:rPr lang="en-US" sz="1800" dirty="0" err="1"/>
              <a:t>Nasibeh</a:t>
            </a:r>
            <a:r>
              <a:rPr lang="en-US" sz="1800" dirty="0"/>
              <a:t>, Ph.D., M.S.</a:t>
            </a:r>
            <a:r>
              <a:rPr lang="en-US" altLang="en-US" sz="1800" baseline="30000" dirty="0"/>
              <a:t>2</a:t>
            </a:r>
          </a:p>
          <a:p>
            <a:r>
              <a:rPr lang="en-US" altLang="en-US" sz="1400" b="0" baseline="30000" dirty="0"/>
              <a:t>1</a:t>
            </a:r>
            <a:r>
              <a:rPr lang="en-US" altLang="en-US" sz="1400" b="0" dirty="0"/>
              <a:t>Division of Digital Products &amp; Services (DPS), ETS, </a:t>
            </a:r>
            <a:r>
              <a:rPr lang="en-US" altLang="en-US" sz="1400" b="0" baseline="30000" dirty="0"/>
              <a:t>2</a:t>
            </a:r>
            <a:r>
              <a:rPr lang="en-US" altLang="en-US" sz="1400" b="0" dirty="0"/>
              <a:t>Division of Mayo Clinic Platform</a:t>
            </a:r>
          </a:p>
          <a:p>
            <a:r>
              <a:rPr lang="en-US" altLang="en-US" sz="1400" b="0" dirty="0"/>
              <a:t>Site: Rochester</a:t>
            </a:r>
          </a:p>
          <a:p>
            <a:endParaRPr lang="en-US" altLang="en-US" sz="1400" b="0" dirty="0"/>
          </a:p>
        </p:txBody>
      </p:sp>
      <p:sp>
        <p:nvSpPr>
          <p:cNvPr id="34" name="Text Box 529">
            <a:extLst>
              <a:ext uri="{FF2B5EF4-FFF2-40B4-BE49-F238E27FC236}">
                <a16:creationId xmlns:a16="http://schemas.microsoft.com/office/drawing/2014/main" id="{ED9B1FF6-179D-8C46-9049-3FDFE6795F82}"/>
              </a:ext>
            </a:extLst>
          </p:cNvPr>
          <p:cNvSpPr txBox="1">
            <a:spLocks noChangeArrowheads="1"/>
          </p:cNvSpPr>
          <p:nvPr/>
        </p:nvSpPr>
        <p:spPr bwMode="auto">
          <a:xfrm>
            <a:off x="466344"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latin typeface="Arial"/>
                <a:cs typeface="Arial"/>
              </a:rPr>
              <a:t>Abstract</a:t>
            </a:r>
          </a:p>
        </p:txBody>
      </p:sp>
      <p:sp>
        <p:nvSpPr>
          <p:cNvPr id="35" name="Text Box 529">
            <a:extLst>
              <a:ext uri="{FF2B5EF4-FFF2-40B4-BE49-F238E27FC236}">
                <a16:creationId xmlns:a16="http://schemas.microsoft.com/office/drawing/2014/main" id="{F7E88607-BB03-774D-904F-0796CB07220D}"/>
              </a:ext>
            </a:extLst>
          </p:cNvPr>
          <p:cNvSpPr txBox="1">
            <a:spLocks noChangeArrowheads="1"/>
          </p:cNvSpPr>
          <p:nvPr/>
        </p:nvSpPr>
        <p:spPr bwMode="auto">
          <a:xfrm>
            <a:off x="466344" y="1189332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DEFINE</a:t>
            </a:r>
          </a:p>
        </p:txBody>
      </p:sp>
      <p:sp>
        <p:nvSpPr>
          <p:cNvPr id="36" name="Text Box 529">
            <a:extLst>
              <a:ext uri="{FF2B5EF4-FFF2-40B4-BE49-F238E27FC236}">
                <a16:creationId xmlns:a16="http://schemas.microsoft.com/office/drawing/2014/main" id="{1EF5A9CA-A57E-4E4B-804C-E1DE66F8A770}"/>
              </a:ext>
            </a:extLst>
          </p:cNvPr>
          <p:cNvSpPr txBox="1">
            <a:spLocks noChangeArrowheads="1"/>
          </p:cNvSpPr>
          <p:nvPr/>
        </p:nvSpPr>
        <p:spPr bwMode="auto">
          <a:xfrm>
            <a:off x="11166096" y="3130986"/>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IMPROVE</a:t>
            </a:r>
          </a:p>
        </p:txBody>
      </p:sp>
      <p:sp>
        <p:nvSpPr>
          <p:cNvPr id="37" name="Text Box 529">
            <a:extLst>
              <a:ext uri="{FF2B5EF4-FFF2-40B4-BE49-F238E27FC236}">
                <a16:creationId xmlns:a16="http://schemas.microsoft.com/office/drawing/2014/main" id="{602F5C51-8DDC-7946-ADD3-052C9B70D046}"/>
              </a:ext>
            </a:extLst>
          </p:cNvPr>
          <p:cNvSpPr txBox="1">
            <a:spLocks noChangeArrowheads="1"/>
          </p:cNvSpPr>
          <p:nvPr/>
        </p:nvSpPr>
        <p:spPr bwMode="auto">
          <a:xfrm>
            <a:off x="16477488" y="3140173"/>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CONTROL</a:t>
            </a:r>
          </a:p>
        </p:txBody>
      </p:sp>
      <p:sp>
        <p:nvSpPr>
          <p:cNvPr id="38" name="Text Box 529">
            <a:extLst>
              <a:ext uri="{FF2B5EF4-FFF2-40B4-BE49-F238E27FC236}">
                <a16:creationId xmlns:a16="http://schemas.microsoft.com/office/drawing/2014/main" id="{17A0BF48-F3E4-E844-BB25-815EFDA99308}"/>
              </a:ext>
            </a:extLst>
          </p:cNvPr>
          <p:cNvSpPr txBox="1">
            <a:spLocks noChangeArrowheads="1"/>
          </p:cNvSpPr>
          <p:nvPr/>
        </p:nvSpPr>
        <p:spPr bwMode="auto">
          <a:xfrm>
            <a:off x="5796026" y="3130986"/>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MEASURE</a:t>
            </a:r>
          </a:p>
        </p:txBody>
      </p:sp>
      <p:sp>
        <p:nvSpPr>
          <p:cNvPr id="39" name="Text Box 529">
            <a:extLst>
              <a:ext uri="{FF2B5EF4-FFF2-40B4-BE49-F238E27FC236}">
                <a16:creationId xmlns:a16="http://schemas.microsoft.com/office/drawing/2014/main" id="{D99E1162-95D2-E841-8D3B-097ABD52E124}"/>
              </a:ext>
            </a:extLst>
          </p:cNvPr>
          <p:cNvSpPr txBox="1">
            <a:spLocks noChangeArrowheads="1"/>
          </p:cNvSpPr>
          <p:nvPr/>
        </p:nvSpPr>
        <p:spPr bwMode="auto">
          <a:xfrm>
            <a:off x="5796026" y="11057724"/>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ANALYZE</a:t>
            </a:r>
          </a:p>
        </p:txBody>
      </p:sp>
      <p:sp>
        <p:nvSpPr>
          <p:cNvPr id="42" name="Text Box 529">
            <a:extLst>
              <a:ext uri="{FF2B5EF4-FFF2-40B4-BE49-F238E27FC236}">
                <a16:creationId xmlns:a16="http://schemas.microsoft.com/office/drawing/2014/main" id="{D0C233AD-89C3-2743-A44C-BB223841EED6}"/>
              </a:ext>
            </a:extLst>
          </p:cNvPr>
          <p:cNvSpPr txBox="1">
            <a:spLocks noChangeArrowheads="1"/>
          </p:cNvSpPr>
          <p:nvPr/>
        </p:nvSpPr>
        <p:spPr bwMode="auto">
          <a:xfrm>
            <a:off x="16536763" y="11157450"/>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ACKNOWLEDGEMENTS</a:t>
            </a:r>
          </a:p>
        </p:txBody>
      </p:sp>
      <p:sp>
        <p:nvSpPr>
          <p:cNvPr id="45" name="Text Box 529">
            <a:extLst>
              <a:ext uri="{FF2B5EF4-FFF2-40B4-BE49-F238E27FC236}">
                <a16:creationId xmlns:a16="http://schemas.microsoft.com/office/drawing/2014/main" id="{39F72AC6-915E-924C-A972-04FF984F128E}"/>
              </a:ext>
            </a:extLst>
          </p:cNvPr>
          <p:cNvSpPr txBox="1">
            <a:spLocks noChangeArrowheads="1"/>
          </p:cNvSpPr>
          <p:nvPr/>
        </p:nvSpPr>
        <p:spPr bwMode="auto">
          <a:xfrm>
            <a:off x="16554285" y="12915394"/>
            <a:ext cx="4983480" cy="548640"/>
          </a:xfrm>
          <a:prstGeom prst="rect">
            <a:avLst/>
          </a:prstGeom>
          <a:solidFill>
            <a:schemeClr val="accent1"/>
          </a:solidFill>
          <a:ln>
            <a:noFill/>
          </a:ln>
          <a:effectLst/>
        </p:spPr>
        <p:txBody>
          <a:bodyPr wrap="square" lIns="9144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lgn="ctr">
              <a:spcBef>
                <a:spcPct val="50000"/>
              </a:spcBef>
              <a:buClrTx/>
              <a:buSzTx/>
            </a:pPr>
            <a:r>
              <a:rPr lang="en-US" sz="2400" cap="all">
                <a:solidFill>
                  <a:schemeClr val="bg1"/>
                </a:solidFill>
              </a:rPr>
              <a:t>references</a:t>
            </a:r>
          </a:p>
        </p:txBody>
      </p:sp>
      <p:graphicFrame>
        <p:nvGraphicFramePr>
          <p:cNvPr id="8" name="Chart 7">
            <a:extLst>
              <a:ext uri="{FF2B5EF4-FFF2-40B4-BE49-F238E27FC236}">
                <a16:creationId xmlns:a16="http://schemas.microsoft.com/office/drawing/2014/main" id="{BB1EE82C-144C-29A0-F3B9-2A35E5E73127}"/>
              </a:ext>
            </a:extLst>
          </p:cNvPr>
          <p:cNvGraphicFramePr/>
          <p:nvPr>
            <p:extLst>
              <p:ext uri="{D42A27DB-BD31-4B8C-83A1-F6EECF244321}">
                <p14:modId xmlns:p14="http://schemas.microsoft.com/office/powerpoint/2010/main" val="1668578105"/>
              </p:ext>
            </p:extLst>
          </p:nvPr>
        </p:nvGraphicFramePr>
        <p:xfrm>
          <a:off x="11256203" y="7981772"/>
          <a:ext cx="4803265" cy="3121130"/>
        </p:xfrm>
        <a:graphic>
          <a:graphicData uri="http://schemas.openxmlformats.org/drawingml/2006/chart">
            <c:chart xmlns:c="http://schemas.openxmlformats.org/drawingml/2006/chart" xmlns:r="http://schemas.openxmlformats.org/officeDocument/2006/relationships" r:id="rId5"/>
          </a:graphicData>
        </a:graphic>
      </p:graphicFrame>
      <p:sp>
        <p:nvSpPr>
          <p:cNvPr id="11" name="Text Box 535">
            <a:extLst>
              <a:ext uri="{FF2B5EF4-FFF2-40B4-BE49-F238E27FC236}">
                <a16:creationId xmlns:a16="http://schemas.microsoft.com/office/drawing/2014/main" id="{B862B15E-FD56-0A2C-4897-6E9AD39DAF4D}"/>
              </a:ext>
            </a:extLst>
          </p:cNvPr>
          <p:cNvSpPr txBox="1">
            <a:spLocks noChangeArrowheads="1"/>
          </p:cNvSpPr>
          <p:nvPr/>
        </p:nvSpPr>
        <p:spPr bwMode="auto">
          <a:xfrm>
            <a:off x="11152612" y="7182216"/>
            <a:ext cx="4983480" cy="349415"/>
          </a:xfrm>
          <a:prstGeom prst="rect">
            <a:avLst/>
          </a:prstGeom>
          <a:noFill/>
          <a:ln>
            <a:noFill/>
          </a:ln>
          <a:effectLst/>
        </p:spPr>
        <p:txBody>
          <a:bodyPr wrap="square" lIns="137160" tIns="91440" rIns="91440" bIns="137160" anchor="t">
            <a:noAutofit/>
          </a:bodyPr>
          <a:lstStyle>
            <a:lvl1pPr marL="177800" indent="-177800" algn="l" defTabSz="457200">
              <a:spcBef>
                <a:spcPct val="0"/>
              </a:spcBef>
              <a:defRPr>
                <a:solidFill>
                  <a:schemeClr val="tx1"/>
                </a:solidFill>
                <a:latin typeface="Arial" charset="0"/>
                <a:cs typeface="Arial" charset="0"/>
              </a:defRPr>
            </a:lvl1pPr>
            <a:lvl2pPr marL="363538" indent="-184150" algn="l" defTabSz="457200">
              <a:spcBef>
                <a:spcPct val="0"/>
              </a:spcBef>
              <a:defRPr>
                <a:solidFill>
                  <a:schemeClr val="tx1"/>
                </a:solidFill>
                <a:latin typeface="Arial" charset="0"/>
                <a:cs typeface="Arial" charset="0"/>
              </a:defRPr>
            </a:lvl2pPr>
            <a:lvl3pPr marL="485775" indent="-12065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marR="0" lvl="0" indent="0">
              <a:spcBef>
                <a:spcPts val="0"/>
              </a:spcBef>
              <a:spcAft>
                <a:spcPts val="0"/>
              </a:spcAft>
              <a:buSzPts val="1000"/>
              <a:tabLst>
                <a:tab pos="457200" algn="l"/>
              </a:tabLst>
            </a:pPr>
            <a:r>
              <a:rPr lang="en-US" altLang="ja-JP" sz="1400" b="1" cap="all" dirty="0">
                <a:solidFill>
                  <a:schemeClr val="tx2"/>
                </a:solidFill>
                <a:ea typeface="MS PGothic" pitchFamily="34" charset="-128"/>
              </a:rPr>
              <a:t>comparison for the improvement measure</a:t>
            </a:r>
            <a:endParaRPr lang="en-US" sz="1400" dirty="0">
              <a:latin typeface="+mn-lt"/>
            </a:endParaRPr>
          </a:p>
        </p:txBody>
      </p:sp>
      <p:sp>
        <p:nvSpPr>
          <p:cNvPr id="13" name="TextBox 12">
            <a:extLst>
              <a:ext uri="{FF2B5EF4-FFF2-40B4-BE49-F238E27FC236}">
                <a16:creationId xmlns:a16="http://schemas.microsoft.com/office/drawing/2014/main" id="{66F10073-C383-5178-5E14-C07FE4DA7335}"/>
              </a:ext>
            </a:extLst>
          </p:cNvPr>
          <p:cNvSpPr txBox="1"/>
          <p:nvPr/>
        </p:nvSpPr>
        <p:spPr>
          <a:xfrm>
            <a:off x="11238083" y="11069495"/>
            <a:ext cx="4788658" cy="553998"/>
          </a:xfrm>
          <a:prstGeom prst="rect">
            <a:avLst/>
          </a:prstGeom>
          <a:noFill/>
        </p:spPr>
        <p:txBody>
          <a:bodyPr wrap="square" rtlCol="0">
            <a:spAutoFit/>
          </a:bodyPr>
          <a:lstStyle/>
          <a:p>
            <a:pPr algn="l"/>
            <a:r>
              <a:rPr lang="en-US" sz="1000" b="1" i="1" dirty="0">
                <a:solidFill>
                  <a:schemeClr val="tx1">
                    <a:lumMod val="50000"/>
                    <a:lumOff val="50000"/>
                  </a:schemeClr>
                </a:solidFill>
              </a:rPr>
              <a:t>Sample: </a:t>
            </a:r>
            <a:r>
              <a:rPr lang="en-US" sz="1000" i="1" dirty="0">
                <a:solidFill>
                  <a:schemeClr val="tx1">
                    <a:lumMod val="50000"/>
                    <a:lumOff val="50000"/>
                  </a:schemeClr>
                </a:solidFill>
              </a:rPr>
              <a:t>Women aged 18–45 enrolled in a cluster-randomized trial across primary care and OB/GYN clinics.</a:t>
            </a:r>
            <a:br>
              <a:rPr lang="en-US" sz="1000" i="1" dirty="0">
                <a:solidFill>
                  <a:schemeClr val="tx1">
                    <a:lumMod val="50000"/>
                    <a:lumOff val="50000"/>
                  </a:schemeClr>
                </a:solidFill>
              </a:rPr>
            </a:br>
            <a:r>
              <a:rPr lang="en-US" sz="1000" b="1" i="1" dirty="0">
                <a:solidFill>
                  <a:schemeClr val="tx1">
                    <a:lumMod val="50000"/>
                    <a:lumOff val="50000"/>
                  </a:schemeClr>
                </a:solidFill>
              </a:rPr>
              <a:t>Note: </a:t>
            </a:r>
            <a:r>
              <a:rPr lang="en-US" sz="1000" i="1" dirty="0">
                <a:solidFill>
                  <a:schemeClr val="tx1">
                    <a:lumMod val="50000"/>
                    <a:lumOff val="50000"/>
                  </a:schemeClr>
                </a:solidFill>
              </a:rPr>
              <a:t>All values are hypothetical and for illustrative purposes only.</a:t>
            </a:r>
            <a:endParaRPr lang="en-US" sz="1000" dirty="0">
              <a:solidFill>
                <a:schemeClr val="tx1">
                  <a:lumMod val="50000"/>
                  <a:lumOff val="50000"/>
                </a:schemeClr>
              </a:solidFill>
            </a:endParaRPr>
          </a:p>
        </p:txBody>
      </p:sp>
      <p:sp>
        <p:nvSpPr>
          <p:cNvPr id="24" name="Text Box 529">
            <a:extLst>
              <a:ext uri="{FF2B5EF4-FFF2-40B4-BE49-F238E27FC236}">
                <a16:creationId xmlns:a16="http://schemas.microsoft.com/office/drawing/2014/main" id="{E6611D36-1AF3-DE92-CAE5-3F0C019E624A}"/>
              </a:ext>
            </a:extLst>
          </p:cNvPr>
          <p:cNvSpPr txBox="1">
            <a:spLocks noChangeArrowheads="1"/>
          </p:cNvSpPr>
          <p:nvPr/>
        </p:nvSpPr>
        <p:spPr bwMode="auto">
          <a:xfrm>
            <a:off x="11152612" y="7461181"/>
            <a:ext cx="4983480" cy="523220"/>
          </a:xfrm>
          <a:prstGeom prst="rect">
            <a:avLst/>
          </a:prstGeom>
          <a:noFill/>
          <a:ln>
            <a:noFill/>
          </a:ln>
          <a:effectLst/>
        </p:spPr>
        <p:txBody>
          <a:bodyPr lIns="13716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latin typeface="Arial"/>
                <a:cs typeface="Arial"/>
              </a:rPr>
              <a:t>FIGURE 1:</a:t>
            </a:r>
            <a:br>
              <a:rPr lang="en-US" altLang="en-US" sz="1400" b="1" dirty="0"/>
            </a:br>
            <a:r>
              <a:rPr lang="en-US" altLang="en-US" sz="1400" b="1" dirty="0">
                <a:solidFill>
                  <a:schemeClr val="accent1"/>
                </a:solidFill>
                <a:latin typeface="Arial"/>
                <a:cs typeface="Arial"/>
              </a:rPr>
              <a:t>IMPROVEMENT MEASURES</a:t>
            </a:r>
          </a:p>
        </p:txBody>
      </p:sp>
      <p:sp>
        <p:nvSpPr>
          <p:cNvPr id="25" name="TextBox 24">
            <a:extLst>
              <a:ext uri="{FF2B5EF4-FFF2-40B4-BE49-F238E27FC236}">
                <a16:creationId xmlns:a16="http://schemas.microsoft.com/office/drawing/2014/main" id="{4CC10135-8F57-B08C-9025-7EB1DA8DFD7B}"/>
              </a:ext>
            </a:extLst>
          </p:cNvPr>
          <p:cNvSpPr txBox="1"/>
          <p:nvPr/>
        </p:nvSpPr>
        <p:spPr>
          <a:xfrm rot="16200000">
            <a:off x="11113318" y="8834863"/>
            <a:ext cx="629788" cy="307777"/>
          </a:xfrm>
          <a:prstGeom prst="rect">
            <a:avLst/>
          </a:prstGeom>
          <a:noFill/>
        </p:spPr>
        <p:txBody>
          <a:bodyPr wrap="none" rtlCol="0">
            <a:spAutoFit/>
          </a:bodyPr>
          <a:lstStyle/>
          <a:p>
            <a:r>
              <a:rPr lang="en-US" sz="1400" dirty="0">
                <a:solidFill>
                  <a:schemeClr val="tx1"/>
                </a:solidFill>
              </a:rPr>
              <a:t>Value</a:t>
            </a:r>
          </a:p>
        </p:txBody>
      </p:sp>
      <p:graphicFrame>
        <p:nvGraphicFramePr>
          <p:cNvPr id="26" name="Chart 25">
            <a:extLst>
              <a:ext uri="{FF2B5EF4-FFF2-40B4-BE49-F238E27FC236}">
                <a16:creationId xmlns:a16="http://schemas.microsoft.com/office/drawing/2014/main" id="{66EA724F-21AE-5235-069B-5A6CCE2C3FF5}"/>
              </a:ext>
            </a:extLst>
          </p:cNvPr>
          <p:cNvGraphicFramePr/>
          <p:nvPr>
            <p:extLst>
              <p:ext uri="{D42A27DB-BD31-4B8C-83A1-F6EECF244321}">
                <p14:modId xmlns:p14="http://schemas.microsoft.com/office/powerpoint/2010/main" val="899382460"/>
              </p:ext>
            </p:extLst>
          </p:nvPr>
        </p:nvGraphicFramePr>
        <p:xfrm>
          <a:off x="11274323" y="12426058"/>
          <a:ext cx="4803265" cy="2554743"/>
        </p:xfrm>
        <a:graphic>
          <a:graphicData uri="http://schemas.openxmlformats.org/drawingml/2006/chart">
            <c:chart xmlns:c="http://schemas.openxmlformats.org/drawingml/2006/chart" xmlns:r="http://schemas.openxmlformats.org/officeDocument/2006/relationships" r:id="rId6"/>
          </a:graphicData>
        </a:graphic>
      </p:graphicFrame>
      <p:sp>
        <p:nvSpPr>
          <p:cNvPr id="27" name="Text Box 535">
            <a:extLst>
              <a:ext uri="{FF2B5EF4-FFF2-40B4-BE49-F238E27FC236}">
                <a16:creationId xmlns:a16="http://schemas.microsoft.com/office/drawing/2014/main" id="{26D14D6B-3CDC-A0FA-0E64-1D3E7CCBFDD8}"/>
              </a:ext>
            </a:extLst>
          </p:cNvPr>
          <p:cNvSpPr txBox="1">
            <a:spLocks noChangeArrowheads="1"/>
          </p:cNvSpPr>
          <p:nvPr/>
        </p:nvSpPr>
        <p:spPr bwMode="auto">
          <a:xfrm>
            <a:off x="11170732" y="11597092"/>
            <a:ext cx="4983480" cy="349415"/>
          </a:xfrm>
          <a:prstGeom prst="rect">
            <a:avLst/>
          </a:prstGeom>
          <a:noFill/>
          <a:ln>
            <a:noFill/>
          </a:ln>
          <a:effectLst/>
        </p:spPr>
        <p:txBody>
          <a:bodyPr wrap="square" lIns="137160" tIns="91440" rIns="91440" bIns="137160" anchor="t">
            <a:noAutofit/>
          </a:bodyPr>
          <a:lstStyle>
            <a:lvl1pPr marL="177800" indent="-177800" algn="l" defTabSz="457200">
              <a:spcBef>
                <a:spcPct val="0"/>
              </a:spcBef>
              <a:defRPr>
                <a:solidFill>
                  <a:schemeClr val="tx1"/>
                </a:solidFill>
                <a:latin typeface="Arial" charset="0"/>
                <a:cs typeface="Arial" charset="0"/>
              </a:defRPr>
            </a:lvl1pPr>
            <a:lvl2pPr marL="363538" indent="-184150" algn="l" defTabSz="457200">
              <a:spcBef>
                <a:spcPct val="0"/>
              </a:spcBef>
              <a:defRPr>
                <a:solidFill>
                  <a:schemeClr val="tx1"/>
                </a:solidFill>
                <a:latin typeface="Arial" charset="0"/>
                <a:cs typeface="Arial" charset="0"/>
              </a:defRPr>
            </a:lvl2pPr>
            <a:lvl3pPr marL="485775" indent="-120650" algn="l" defTabSz="457200">
              <a:spcBef>
                <a:spcPct val="0"/>
              </a:spcBef>
              <a:defRPr>
                <a:solidFill>
                  <a:schemeClr val="tx1"/>
                </a:solidFill>
                <a:latin typeface="Arial" charset="0"/>
                <a:cs typeface="Arial" charset="0"/>
              </a:defRPr>
            </a:lvl3pPr>
            <a:lvl4pPr marL="1485900" algn="l" defTabSz="457200">
              <a:spcBef>
                <a:spcPct val="0"/>
              </a:spcBef>
              <a:defRPr>
                <a:solidFill>
                  <a:schemeClr val="tx1"/>
                </a:solidFill>
                <a:latin typeface="Arial" charset="0"/>
                <a:cs typeface="Arial" charset="0"/>
              </a:defRPr>
            </a:lvl4pPr>
            <a:lvl5pPr algn="l" defTabSz="457200">
              <a:spcBef>
                <a:spcPct val="0"/>
              </a:spcBef>
              <a:defRPr>
                <a:solidFill>
                  <a:schemeClr val="tx1"/>
                </a:solidFill>
                <a:latin typeface="Arial" charset="0"/>
                <a:cs typeface="Arial" charset="0"/>
              </a:defRPr>
            </a:lvl5pPr>
            <a:lvl6pPr defTabSz="457200" fontAlgn="base">
              <a:spcBef>
                <a:spcPct val="0"/>
              </a:spcBef>
              <a:spcAft>
                <a:spcPct val="0"/>
              </a:spcAft>
              <a:defRPr>
                <a:solidFill>
                  <a:schemeClr val="tx1"/>
                </a:solidFill>
                <a:latin typeface="Arial" charset="0"/>
                <a:cs typeface="Arial" charset="0"/>
              </a:defRPr>
            </a:lvl6pPr>
            <a:lvl7pPr defTabSz="457200" fontAlgn="base">
              <a:spcBef>
                <a:spcPct val="0"/>
              </a:spcBef>
              <a:spcAft>
                <a:spcPct val="0"/>
              </a:spcAft>
              <a:defRPr>
                <a:solidFill>
                  <a:schemeClr val="tx1"/>
                </a:solidFill>
                <a:latin typeface="Arial" charset="0"/>
                <a:cs typeface="Arial" charset="0"/>
              </a:defRPr>
            </a:lvl7pPr>
            <a:lvl8pPr defTabSz="457200" fontAlgn="base">
              <a:spcBef>
                <a:spcPct val="0"/>
              </a:spcBef>
              <a:spcAft>
                <a:spcPct val="0"/>
              </a:spcAft>
              <a:defRPr>
                <a:solidFill>
                  <a:schemeClr val="tx1"/>
                </a:solidFill>
                <a:latin typeface="Arial" charset="0"/>
                <a:cs typeface="Arial" charset="0"/>
              </a:defRPr>
            </a:lvl8pPr>
            <a:lvl9pPr defTabSz="457200" fontAlgn="base">
              <a:spcBef>
                <a:spcPct val="0"/>
              </a:spcBef>
              <a:spcAft>
                <a:spcPct val="0"/>
              </a:spcAft>
              <a:defRPr>
                <a:solidFill>
                  <a:schemeClr val="tx1"/>
                </a:solidFill>
                <a:latin typeface="Arial" charset="0"/>
                <a:cs typeface="Arial" charset="0"/>
              </a:defRPr>
            </a:lvl9pPr>
          </a:lstStyle>
          <a:p>
            <a:pPr marL="0" marR="0" lvl="0" indent="0">
              <a:spcBef>
                <a:spcPts val="0"/>
              </a:spcBef>
              <a:spcAft>
                <a:spcPts val="0"/>
              </a:spcAft>
              <a:buSzPts val="1000"/>
              <a:tabLst>
                <a:tab pos="457200" algn="l"/>
              </a:tabLst>
            </a:pPr>
            <a:r>
              <a:rPr lang="en-US" altLang="ja-JP" sz="1400" b="1" cap="all" dirty="0">
                <a:solidFill>
                  <a:schemeClr val="tx2"/>
                </a:solidFill>
                <a:ea typeface="MS PGothic" pitchFamily="34" charset="-128"/>
              </a:rPr>
              <a:t>comparison for the BALANCING measure</a:t>
            </a:r>
            <a:endParaRPr lang="en-US" sz="1400" dirty="0">
              <a:latin typeface="+mn-lt"/>
            </a:endParaRPr>
          </a:p>
        </p:txBody>
      </p:sp>
      <p:sp>
        <p:nvSpPr>
          <p:cNvPr id="30" name="TextBox 29">
            <a:extLst>
              <a:ext uri="{FF2B5EF4-FFF2-40B4-BE49-F238E27FC236}">
                <a16:creationId xmlns:a16="http://schemas.microsoft.com/office/drawing/2014/main" id="{E689A39D-92B4-C1DC-76D3-EA420A0C3B25}"/>
              </a:ext>
            </a:extLst>
          </p:cNvPr>
          <p:cNvSpPr txBox="1"/>
          <p:nvPr/>
        </p:nvSpPr>
        <p:spPr>
          <a:xfrm>
            <a:off x="11197699" y="14930001"/>
            <a:ext cx="4788658" cy="800219"/>
          </a:xfrm>
          <a:prstGeom prst="rect">
            <a:avLst/>
          </a:prstGeom>
          <a:noFill/>
        </p:spPr>
        <p:txBody>
          <a:bodyPr wrap="square" rtlCol="0">
            <a:spAutoFit/>
          </a:bodyPr>
          <a:lstStyle/>
          <a:p>
            <a:pPr algn="l"/>
            <a:r>
              <a:rPr lang="en-US" sz="1000" b="1" dirty="0">
                <a:solidFill>
                  <a:schemeClr val="tx1">
                    <a:lumMod val="50000"/>
                    <a:lumOff val="50000"/>
                  </a:schemeClr>
                </a:solidFill>
              </a:rPr>
              <a:t>Measures Displayed:</a:t>
            </a:r>
            <a:endParaRPr lang="en-US" sz="1000" dirty="0">
              <a:solidFill>
                <a:schemeClr val="tx1">
                  <a:lumMod val="50000"/>
                  <a:lumOff val="50000"/>
                </a:schemeClr>
              </a:solidFill>
            </a:endParaRPr>
          </a:p>
          <a:p>
            <a:pPr marL="171450" indent="-171450" algn="l">
              <a:buFont typeface="Arial" panose="020B0604020202020204" pitchFamily="34" charset="0"/>
              <a:buChar char="•"/>
            </a:pPr>
            <a:r>
              <a:rPr lang="en-US" sz="1000" b="1" dirty="0">
                <a:solidFill>
                  <a:schemeClr val="tx1">
                    <a:lumMod val="50000"/>
                    <a:lumOff val="50000"/>
                  </a:schemeClr>
                </a:solidFill>
              </a:rPr>
              <a:t>Clinician Cognitive Load</a:t>
            </a:r>
            <a:r>
              <a:rPr lang="en-US" sz="1000" dirty="0">
                <a:solidFill>
                  <a:schemeClr val="tx1">
                    <a:lumMod val="50000"/>
                    <a:lumOff val="50000"/>
                  </a:schemeClr>
                </a:solidFill>
              </a:rPr>
              <a:t>: Reduced from 8 to 5.</a:t>
            </a:r>
          </a:p>
          <a:p>
            <a:pPr marL="171450" indent="-171450" algn="l">
              <a:buFont typeface="Arial" panose="020B0604020202020204" pitchFamily="34" charset="0"/>
              <a:buChar char="•"/>
            </a:pPr>
            <a:r>
              <a:rPr lang="en-US" sz="1000" b="1" dirty="0">
                <a:solidFill>
                  <a:schemeClr val="tx1">
                    <a:lumMod val="50000"/>
                    <a:lumOff val="50000"/>
                  </a:schemeClr>
                </a:solidFill>
              </a:rPr>
              <a:t>Recommendation Acceptance Rate</a:t>
            </a:r>
            <a:r>
              <a:rPr lang="en-US" sz="1000" dirty="0">
                <a:solidFill>
                  <a:schemeClr val="tx1">
                    <a:lumMod val="50000"/>
                    <a:lumOff val="50000"/>
                  </a:schemeClr>
                </a:solidFill>
              </a:rPr>
              <a:t>: Increased from baseline (N/A) to 80%.</a:t>
            </a:r>
            <a:endParaRPr lang="en-US" sz="1000" i="1" dirty="0">
              <a:solidFill>
                <a:schemeClr val="tx1">
                  <a:lumMod val="50000"/>
                  <a:lumOff val="50000"/>
                </a:schemeClr>
              </a:solidFill>
            </a:endParaRPr>
          </a:p>
          <a:p>
            <a:pPr algn="l"/>
            <a:r>
              <a:rPr lang="en-US" sz="1000" b="1" i="1" dirty="0">
                <a:solidFill>
                  <a:schemeClr val="tx1">
                    <a:lumMod val="50000"/>
                    <a:lumOff val="50000"/>
                  </a:schemeClr>
                </a:solidFill>
              </a:rPr>
              <a:t>Note: </a:t>
            </a:r>
            <a:r>
              <a:rPr lang="en-US" sz="1000" i="1" dirty="0">
                <a:solidFill>
                  <a:schemeClr val="tx1">
                    <a:lumMod val="50000"/>
                    <a:lumOff val="50000"/>
                  </a:schemeClr>
                </a:solidFill>
              </a:rPr>
              <a:t>All values are hypothetical and for illustrative purposes only.</a:t>
            </a:r>
            <a:endParaRPr lang="en-US" sz="1000" dirty="0">
              <a:solidFill>
                <a:schemeClr val="tx1">
                  <a:lumMod val="50000"/>
                  <a:lumOff val="50000"/>
                </a:schemeClr>
              </a:solidFill>
            </a:endParaRPr>
          </a:p>
        </p:txBody>
      </p:sp>
      <p:sp>
        <p:nvSpPr>
          <p:cNvPr id="40" name="Text Box 529">
            <a:extLst>
              <a:ext uri="{FF2B5EF4-FFF2-40B4-BE49-F238E27FC236}">
                <a16:creationId xmlns:a16="http://schemas.microsoft.com/office/drawing/2014/main" id="{D670089C-B0B8-25E8-7BE8-8AC81C397C5E}"/>
              </a:ext>
            </a:extLst>
          </p:cNvPr>
          <p:cNvSpPr txBox="1">
            <a:spLocks noChangeArrowheads="1"/>
          </p:cNvSpPr>
          <p:nvPr/>
        </p:nvSpPr>
        <p:spPr bwMode="auto">
          <a:xfrm>
            <a:off x="11170732" y="11905467"/>
            <a:ext cx="4983480" cy="523220"/>
          </a:xfrm>
          <a:prstGeom prst="rect">
            <a:avLst/>
          </a:prstGeom>
          <a:noFill/>
          <a:ln>
            <a:noFill/>
          </a:ln>
          <a:effectLst/>
        </p:spPr>
        <p:txBody>
          <a:bodyPr lIns="137160" tIns="45720" rIns="91440" bIns="45720" anchor="ctr" anchorCtr="0">
            <a:noAutofit/>
          </a:bodyPr>
          <a:lstStyle>
            <a:lvl1pPr algn="l" defTabSz="2638425">
              <a:spcBef>
                <a:spcPct val="0"/>
              </a:spcBef>
              <a:defRPr>
                <a:solidFill>
                  <a:schemeClr val="tx1"/>
                </a:solidFill>
                <a:latin typeface="Arial" charset="0"/>
                <a:cs typeface="Arial" charset="0"/>
              </a:defRPr>
            </a:lvl1pPr>
            <a:lvl2pPr algn="l" defTabSz="2638425">
              <a:spcBef>
                <a:spcPct val="0"/>
              </a:spcBef>
              <a:defRPr>
                <a:solidFill>
                  <a:schemeClr val="tx1"/>
                </a:solidFill>
                <a:latin typeface="Arial" charset="0"/>
                <a:cs typeface="Arial" charset="0"/>
              </a:defRPr>
            </a:lvl2pPr>
            <a:lvl3pPr algn="l" defTabSz="2638425">
              <a:spcBef>
                <a:spcPct val="0"/>
              </a:spcBef>
              <a:defRPr>
                <a:solidFill>
                  <a:schemeClr val="tx1"/>
                </a:solidFill>
                <a:latin typeface="Arial" charset="0"/>
                <a:cs typeface="Arial" charset="0"/>
              </a:defRPr>
            </a:lvl3pPr>
            <a:lvl4pPr algn="l" defTabSz="2638425">
              <a:spcBef>
                <a:spcPct val="0"/>
              </a:spcBef>
              <a:defRPr>
                <a:solidFill>
                  <a:schemeClr val="tx1"/>
                </a:solidFill>
                <a:latin typeface="Arial" charset="0"/>
                <a:cs typeface="Arial" charset="0"/>
              </a:defRPr>
            </a:lvl4pPr>
            <a:lvl5pPr algn="l" defTabSz="2638425">
              <a:spcBef>
                <a:spcPct val="0"/>
              </a:spcBef>
              <a:defRPr>
                <a:solidFill>
                  <a:schemeClr val="tx1"/>
                </a:solidFill>
                <a:latin typeface="Arial" charset="0"/>
                <a:cs typeface="Arial" charset="0"/>
              </a:defRPr>
            </a:lvl5pPr>
            <a:lvl6pPr defTabSz="2638425" fontAlgn="base">
              <a:spcBef>
                <a:spcPct val="0"/>
              </a:spcBef>
              <a:spcAft>
                <a:spcPct val="0"/>
              </a:spcAft>
              <a:defRPr>
                <a:solidFill>
                  <a:schemeClr val="tx1"/>
                </a:solidFill>
                <a:latin typeface="Arial" charset="0"/>
                <a:cs typeface="Arial" charset="0"/>
              </a:defRPr>
            </a:lvl6pPr>
            <a:lvl7pPr defTabSz="2638425" fontAlgn="base">
              <a:spcBef>
                <a:spcPct val="0"/>
              </a:spcBef>
              <a:spcAft>
                <a:spcPct val="0"/>
              </a:spcAft>
              <a:defRPr>
                <a:solidFill>
                  <a:schemeClr val="tx1"/>
                </a:solidFill>
                <a:latin typeface="Arial" charset="0"/>
                <a:cs typeface="Arial" charset="0"/>
              </a:defRPr>
            </a:lvl7pPr>
            <a:lvl8pPr defTabSz="2638425" fontAlgn="base">
              <a:spcBef>
                <a:spcPct val="0"/>
              </a:spcBef>
              <a:spcAft>
                <a:spcPct val="0"/>
              </a:spcAft>
              <a:defRPr>
                <a:solidFill>
                  <a:schemeClr val="tx1"/>
                </a:solidFill>
                <a:latin typeface="Arial" charset="0"/>
                <a:cs typeface="Arial" charset="0"/>
              </a:defRPr>
            </a:lvl8pPr>
            <a:lvl9pPr defTabSz="2638425" fontAlgn="base">
              <a:spcBef>
                <a:spcPct val="0"/>
              </a:spcBef>
              <a:spcAft>
                <a:spcPct val="0"/>
              </a:spcAft>
              <a:defRPr>
                <a:solidFill>
                  <a:schemeClr val="tx1"/>
                </a:solidFill>
                <a:latin typeface="Arial" charset="0"/>
                <a:cs typeface="Arial" charset="0"/>
              </a:defRPr>
            </a:lvl9pPr>
          </a:lstStyle>
          <a:p>
            <a:pPr>
              <a:spcBef>
                <a:spcPct val="50000"/>
              </a:spcBef>
              <a:buClrTx/>
              <a:buSzTx/>
            </a:pPr>
            <a:r>
              <a:rPr lang="en-US" altLang="en-US" sz="1400" b="1" dirty="0">
                <a:solidFill>
                  <a:schemeClr val="accent1"/>
                </a:solidFill>
                <a:latin typeface="Arial"/>
                <a:cs typeface="Arial"/>
              </a:rPr>
              <a:t>FIGURE 2:</a:t>
            </a:r>
            <a:br>
              <a:rPr lang="en-US" altLang="en-US" sz="1400" b="1" dirty="0"/>
            </a:br>
            <a:r>
              <a:rPr lang="en-US" altLang="en-US" sz="1400" b="1" dirty="0">
                <a:solidFill>
                  <a:schemeClr val="accent1"/>
                </a:solidFill>
                <a:latin typeface="Arial"/>
                <a:cs typeface="Arial"/>
              </a:rPr>
              <a:t>BALANCING MEASURES</a:t>
            </a:r>
          </a:p>
        </p:txBody>
      </p:sp>
      <p:sp>
        <p:nvSpPr>
          <p:cNvPr id="43" name="TextBox 42">
            <a:extLst>
              <a:ext uri="{FF2B5EF4-FFF2-40B4-BE49-F238E27FC236}">
                <a16:creationId xmlns:a16="http://schemas.microsoft.com/office/drawing/2014/main" id="{B81DED3A-33B6-A995-626E-22A0DE1A6E76}"/>
              </a:ext>
            </a:extLst>
          </p:cNvPr>
          <p:cNvSpPr txBox="1"/>
          <p:nvPr/>
        </p:nvSpPr>
        <p:spPr>
          <a:xfrm rot="16200000">
            <a:off x="10644438" y="13162043"/>
            <a:ext cx="1617751" cy="307777"/>
          </a:xfrm>
          <a:prstGeom prst="rect">
            <a:avLst/>
          </a:prstGeom>
          <a:noFill/>
        </p:spPr>
        <p:txBody>
          <a:bodyPr wrap="none" rtlCol="0">
            <a:spAutoFit/>
          </a:bodyPr>
          <a:lstStyle/>
          <a:p>
            <a:r>
              <a:rPr lang="en-US" sz="1400" dirty="0">
                <a:solidFill>
                  <a:schemeClr val="tx1"/>
                </a:solidFill>
              </a:rPr>
              <a:t>Score/Percentage</a:t>
            </a:r>
          </a:p>
        </p:txBody>
      </p:sp>
    </p:spTree>
    <p:custDataLst>
      <p:custData r:id="rId1"/>
      <p:custData r:id="rId2"/>
    </p:custDataLst>
  </p:cSld>
  <p:clrMapOvr>
    <a:masterClrMapping/>
  </p:clrMapOvr>
</p:sld>
</file>

<file path=ppt/theme/theme1.xml><?xml version="1.0" encoding="utf-8"?>
<a:theme xmlns:a="http://schemas.openxmlformats.org/drawingml/2006/main" name="Custom Design">
  <a:themeElements>
    <a:clrScheme name="2023 Scientific Poster templates (3-14-2023)">
      <a:dk1>
        <a:srgbClr val="FFFFFF"/>
      </a:dk1>
      <a:lt1>
        <a:srgbClr val="000000"/>
      </a:lt1>
      <a:dk2>
        <a:srgbClr val="E6E6E6"/>
      </a:dk2>
      <a:lt2>
        <a:srgbClr val="0057B8"/>
      </a:lt2>
      <a:accent1>
        <a:srgbClr val="0057B8"/>
      </a:accent1>
      <a:accent2>
        <a:srgbClr val="009CDE"/>
      </a:accent2>
      <a:accent3>
        <a:srgbClr val="FFC845"/>
      </a:accent3>
      <a:accent4>
        <a:srgbClr val="009F4D"/>
      </a:accent4>
      <a:accent5>
        <a:srgbClr val="8246AF"/>
      </a:accent5>
      <a:accent6>
        <a:srgbClr val="E4002B"/>
      </a:accent6>
      <a:hlink>
        <a:srgbClr val="009CDE"/>
      </a:hlink>
      <a:folHlink>
        <a:srgbClr val="7F7F7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its 4x4 (printed size 35h x 48w)_12-10-2021.pptx" id="{0020D8CB-8B8E-4B52-8636-A53CBE83354E}" vid="{A2FBBF40-11F9-4A6D-9066-00696E5EB9F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TemplafySlideFormConfiguration><![CDATA[{"formFields":[],"formDataEntries":[]}]]></TemplafySlideFormConfiguration>
</file>

<file path=customXml/item3.xml><?xml version="1.0" encoding="utf-8"?>
<ct:contentTypeSchema xmlns:ct="http://schemas.microsoft.com/office/2006/metadata/contentType" xmlns:ma="http://schemas.microsoft.com/office/2006/metadata/properties/metaAttributes" ct:_="" ma:_="" ma:contentTypeName="Document" ma:contentTypeID="0x0101006A6D000FF59DB44B8E352910F46EC694" ma:contentTypeVersion="15" ma:contentTypeDescription="Create a new document." ma:contentTypeScope="" ma:versionID="db1091f6d9eeb3091852770d0a0f566c">
  <xsd:schema xmlns:xsd="http://www.w3.org/2001/XMLSchema" xmlns:xs="http://www.w3.org/2001/XMLSchema" xmlns:p="http://schemas.microsoft.com/office/2006/metadata/properties" xmlns:ns2="85c9bca7-0e69-4c43-97a9-7319cff86d76" xmlns:ns3="7f041d29-ae87-4544-b5d8-e1275ee69c95" targetNamespace="http://schemas.microsoft.com/office/2006/metadata/properties" ma:root="true" ma:fieldsID="c908163c49f7996a9f727cea5f094511" ns2:_="" ns3:_="">
    <xsd:import namespace="85c9bca7-0e69-4c43-97a9-7319cff86d76"/>
    <xsd:import namespace="7f041d29-ae87-4544-b5d8-e1275ee69c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c9bca7-0e69-4c43-97a9-7319cff86d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7c5d3906-26d2-4840-9c74-966ccfe297aa" ma:termSetId="09814cd3-568e-fe90-9814-8d621ff8fb84" ma:anchorId="fba54fb3-c3e1-fe81-a776-ca4b69148c4d" ma:open="true" ma:isKeyword="false">
      <xsd:complexType>
        <xsd:sequence>
          <xsd:element ref="pc:Terms" minOccurs="0" maxOccurs="1"/>
        </xsd:sequence>
      </xsd:complex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041d29-ae87-4544-b5d8-e1275ee69c95"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fbf29763-869d-4daa-998f-e48a07bfe457}" ma:internalName="TaxCatchAll" ma:showField="CatchAllData" ma:web="7f041d29-ae87-4544-b5d8-e1275ee69c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TaxCatchAll xmlns="7f041d29-ae87-4544-b5d8-e1275ee69c95" xsi:nil="true"/>
    <lcf76f155ced4ddcb4097134ff3c332f xmlns="85c9bca7-0e69-4c43-97a9-7319cff86d76">
      <Terms xmlns="http://schemas.microsoft.com/office/infopath/2007/PartnerControls"/>
    </lcf76f155ced4ddcb4097134ff3c332f>
  </documentManagement>
</p:properties>
</file>

<file path=customXml/item5.xml><?xml version="1.0" encoding="utf-8"?>
<TemplafySlideTemplateConfiguration><![CDATA[{"slideVersion":1,"isValidatorEnabled":false,"isLocked":false,"elementsMetadata":[],"slideId":"862150716161785859","enableDocumentContentUpdater":false,"version":"2.0"}]]></TemplafySlideTemplateConfiguration>
</file>

<file path=customXml/item6.xml><?xml version="1.0" encoding="utf-8"?>
<TemplafyFormConfiguration><![CDATA[{"formFields":[],"formDataEntries":[]}]]></TemplafyFormConfiguration>
</file>

<file path=customXml/item7.xml><?xml version="1.0" encoding="utf-8"?>
<TemplafyTemplateConfiguration><![CDATA[{"elementsMetadata":[],"transformationConfigurations":[],"templateName":"MC_Poster_Horizontal_Fits 4x4 (printed size 35h x 48w)","templateDescription":"","enableDocumentContentUpdater":false,"version":"2.0"}]]></TemplafyTemplateConfiguration>
</file>

<file path=customXml/itemProps1.xml><?xml version="1.0" encoding="utf-8"?>
<ds:datastoreItem xmlns:ds="http://schemas.openxmlformats.org/officeDocument/2006/customXml" ds:itemID="{5A2270B3-520D-4F24-A254-14DE95BABB56}">
  <ds:schemaRefs>
    <ds:schemaRef ds:uri="http://schemas.microsoft.com/sharepoint/v3/contenttype/forms"/>
  </ds:schemaRefs>
</ds:datastoreItem>
</file>

<file path=customXml/itemProps2.xml><?xml version="1.0" encoding="utf-8"?>
<ds:datastoreItem xmlns:ds="http://schemas.openxmlformats.org/officeDocument/2006/customXml" ds:itemID="{4EDADF3F-5260-4501-B29C-5920D3032853}">
  <ds:schemaRefs/>
</ds:datastoreItem>
</file>

<file path=customXml/itemProps3.xml><?xml version="1.0" encoding="utf-8"?>
<ds:datastoreItem xmlns:ds="http://schemas.openxmlformats.org/officeDocument/2006/customXml" ds:itemID="{26CC6B0E-BD10-45AF-9067-23776D08B24C}">
  <ds:schemaRefs>
    <ds:schemaRef ds:uri="7f041d29-ae87-4544-b5d8-e1275ee69c95"/>
    <ds:schemaRef ds:uri="85c9bca7-0e69-4c43-97a9-7319cff86d7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304EAA5B-5CE0-475D-9581-F07E4A3FE444}">
  <ds:schemaRefs>
    <ds:schemaRef ds:uri="7f041d29-ae87-4544-b5d8-e1275ee69c95"/>
    <ds:schemaRef ds:uri="85c9bca7-0e69-4c43-97a9-7319cff86d7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5.xml><?xml version="1.0" encoding="utf-8"?>
<ds:datastoreItem xmlns:ds="http://schemas.openxmlformats.org/officeDocument/2006/customXml" ds:itemID="{5C4B655C-9952-4D4C-BF87-F75FCC927756}">
  <ds:schemaRefs/>
</ds:datastoreItem>
</file>

<file path=customXml/itemProps6.xml><?xml version="1.0" encoding="utf-8"?>
<ds:datastoreItem xmlns:ds="http://schemas.openxmlformats.org/officeDocument/2006/customXml" ds:itemID="{41382E9A-816A-4801-9784-80C4F2B5F688}">
  <ds:schemaRefs/>
</ds:datastoreItem>
</file>

<file path=customXml/itemProps7.xml><?xml version="1.0" encoding="utf-8"?>
<ds:datastoreItem xmlns:ds="http://schemas.openxmlformats.org/officeDocument/2006/customXml" ds:itemID="{89FEC480-DEEE-4D7F-8EBB-944637A2ECFE}">
  <ds:schemaRefs/>
</ds:datastoreItem>
</file>

<file path=docMetadata/LabelInfo.xml><?xml version="1.0" encoding="utf-8"?>
<clbl:labelList xmlns:clbl="http://schemas.microsoft.com/office/2020/mipLabelMetadata">
  <clbl:label id="{11372f5f-8e19-4efb-8afe-8eac20a980c4}" enabled="1" method="Standard" siteId="{a25fff9c-3f63-4fb2-9a8a-d9bdd0321f9a}" contentBits="0" removed="0"/>
</clbl:labelList>
</file>

<file path=docProps/app.xml><?xml version="1.0" encoding="utf-8"?>
<Properties xmlns="http://schemas.openxmlformats.org/officeDocument/2006/extended-properties" xmlns:vt="http://schemas.openxmlformats.org/officeDocument/2006/docPropsVTypes">
  <Template>Fits 4x4 (printed size 35h x 48w)_12-10-2021</Template>
  <TotalTime>237</TotalTime>
  <Words>1212</Words>
  <Application>Microsoft Macintosh PowerPoint</Application>
  <PresentationFormat>Custom</PresentationFormat>
  <Paragraphs>72</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MS PGothic</vt:lpstr>
      <vt:lpstr>Arial</vt:lpstr>
      <vt:lpstr>Symbol</vt:lpstr>
      <vt:lpstr>Wingdings</vt:lpstr>
      <vt:lpstr>Custom Design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Nielsen, Julie M.</dc:creator>
  <dc:description>v2.1</dc:description>
  <cp:lastModifiedBy>Shaik, Mustafa, M.S.</cp:lastModifiedBy>
  <cp:revision>9</cp:revision>
  <dcterms:created xsi:type="dcterms:W3CDTF">2024-04-12T15:54:59Z</dcterms:created>
  <dcterms:modified xsi:type="dcterms:W3CDTF">2025-07-06T21:00:56Z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fyTimeStamp">
    <vt:lpwstr>2024-03-07T15:52:33</vt:lpwstr>
  </property>
  <property fmtid="{D5CDD505-2E9C-101B-9397-08002B2CF9AE}" pid="3" name="TemplafyTenantId">
    <vt:lpwstr>mcbrandtemplates</vt:lpwstr>
  </property>
  <property fmtid="{D5CDD505-2E9C-101B-9397-08002B2CF9AE}" pid="4" name="TemplafyTemplateId">
    <vt:lpwstr>862150706875073816</vt:lpwstr>
  </property>
  <property fmtid="{D5CDD505-2E9C-101B-9397-08002B2CF9AE}" pid="5" name="TemplafyUserProfileId">
    <vt:lpwstr>637774259828652526</vt:lpwstr>
  </property>
  <property fmtid="{D5CDD505-2E9C-101B-9397-08002B2CF9AE}" pid="6" name="TemplafyFromBlank">
    <vt:bool>false</vt:bool>
  </property>
  <property fmtid="{D5CDD505-2E9C-101B-9397-08002B2CF9AE}" pid="7" name="ContentTypeId">
    <vt:lpwstr>0x0101006A6D000FF59DB44B8E352910F46EC694</vt:lpwstr>
  </property>
  <property fmtid="{D5CDD505-2E9C-101B-9397-08002B2CF9AE}" pid="8" name="MediaServiceImageTags">
    <vt:lpwstr/>
  </property>
</Properties>
</file>